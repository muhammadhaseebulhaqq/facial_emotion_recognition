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urier New" charset="1" panose="02070309020205020404"/>
      <p:regular r:id="rId20"/>
    </p:embeddedFont>
    <p:embeddedFont>
      <p:font typeface="Georgia" charset="1" panose="02040502050405020303"/>
      <p:regular r:id="rId21"/>
    </p:embeddedFont>
    <p:embeddedFont>
      <p:font typeface="Georgia Italics" charset="1" panose="02040502050405090303"/>
      <p:regular r:id="rId22"/>
    </p:embeddedFont>
    <p:embeddedFont>
      <p:font typeface="Arial" charset="1" panose="020B0604020202020204"/>
      <p:regular r:id="rId23"/>
    </p:embeddedFont>
    <p:embeddedFont>
      <p:font typeface="Arial Bold" charset="1" panose="020B0704020202020204"/>
      <p:regular r:id="rId25"/>
    </p:embeddedFont>
    <p:embeddedFont>
      <p:font typeface="Arial Italics" charset="1" panose="020B0604020202090204"/>
      <p:regular r:id="rId30"/>
    </p:embeddedFont>
    <p:embeddedFont>
      <p:font typeface="Courier New Bold" charset="1" panose="020706090202050204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3" y="977903"/>
            <a:ext cx="8062455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330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CS-419 · DEEP LEARNING · SPRING 2026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7738" y="2154136"/>
            <a:ext cx="2078612" cy="376238"/>
            <a:chOff x="0" y="0"/>
            <a:chExt cx="2771483" cy="501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1521" cy="501650"/>
            </a:xfrm>
            <a:custGeom>
              <a:avLst/>
              <a:gdLst/>
              <a:ahLst/>
              <a:cxnLst/>
              <a:rect r="r" b="b" t="t" l="l"/>
              <a:pathLst>
                <a:path h="501650" w="2771521">
                  <a:moveTo>
                    <a:pt x="6350" y="0"/>
                  </a:moveTo>
                  <a:lnTo>
                    <a:pt x="2765171" y="0"/>
                  </a:lnTo>
                  <a:cubicBezTo>
                    <a:pt x="2768727" y="0"/>
                    <a:pt x="2771521" y="2794"/>
                    <a:pt x="2771521" y="6350"/>
                  </a:cubicBezTo>
                  <a:lnTo>
                    <a:pt x="2771521" y="495300"/>
                  </a:lnTo>
                  <a:cubicBezTo>
                    <a:pt x="2771521" y="498856"/>
                    <a:pt x="2768727" y="501650"/>
                    <a:pt x="2765171" y="501650"/>
                  </a:cubicBezTo>
                  <a:lnTo>
                    <a:pt x="6350" y="501650"/>
                  </a:lnTo>
                  <a:cubicBezTo>
                    <a:pt x="2794" y="501650"/>
                    <a:pt x="0" y="498856"/>
                    <a:pt x="0" y="49530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95300"/>
                  </a:lnTo>
                  <a:lnTo>
                    <a:pt x="6350" y="495300"/>
                  </a:lnTo>
                  <a:lnTo>
                    <a:pt x="6350" y="488950"/>
                  </a:lnTo>
                  <a:lnTo>
                    <a:pt x="2765171" y="488950"/>
                  </a:lnTo>
                  <a:lnTo>
                    <a:pt x="2765171" y="495300"/>
                  </a:lnTo>
                  <a:lnTo>
                    <a:pt x="2758821" y="495300"/>
                  </a:lnTo>
                  <a:lnTo>
                    <a:pt x="2758821" y="6350"/>
                  </a:lnTo>
                  <a:lnTo>
                    <a:pt x="2765171" y="6350"/>
                  </a:lnTo>
                  <a:lnTo>
                    <a:pt x="2765171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0778" y="2260502"/>
            <a:ext cx="1808731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70">
                <a:solidFill>
                  <a:srgbClr val="B5532E"/>
                </a:solidFill>
                <a:latin typeface="Courier New"/>
                <a:ea typeface="Courier New"/>
                <a:cs typeface="Courier New"/>
                <a:sym typeface="Courier New"/>
              </a:rPr>
              <a:t>FINAL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7903" y="2903439"/>
            <a:ext cx="8062455" cy="431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5"/>
              </a:lnSpc>
            </a:pPr>
            <a:r>
              <a:rPr lang="en-US" sz="9900" spc="-198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Facial </a:t>
            </a:r>
            <a:r>
              <a:rPr lang="en-US" sz="9900" i="true" spc="-198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Emotion </a:t>
            </a:r>
            <a:r>
              <a:rPr lang="en-US" sz="9900" spc="-198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Recognition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903" y="7122833"/>
            <a:ext cx="7012943" cy="143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 i="true">
                <a:solidFill>
                  <a:srgbClr val="3D3A36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A study of seven deep learning models on the FER-2013 dataset — from MLP baselines to transfer learning.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903" y="9112253"/>
            <a:ext cx="8062455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210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NATIONAL UNIVERSITY OF SCIENCES &amp; TECHNOLOGY · BSCS-13-E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44319" y="0"/>
            <a:ext cx="8143615" cy="10287000"/>
            <a:chOff x="0" y="0"/>
            <a:chExt cx="10858153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582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858204">
                  <a:moveTo>
                    <a:pt x="0" y="0"/>
                  </a:moveTo>
                  <a:lnTo>
                    <a:pt x="10858204" y="0"/>
                  </a:lnTo>
                  <a:lnTo>
                    <a:pt x="108582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664600" y="968378"/>
            <a:ext cx="6944420" cy="21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300">
                <a:solidFill>
                  <a:srgbClr val="F5F1E8">
                    <a:alpha val="54902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4600" y="1392241"/>
            <a:ext cx="6944420" cy="5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Authors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639206" y="2760316"/>
            <a:ext cx="6791477" cy="9525"/>
            <a:chOff x="0" y="0"/>
            <a:chExt cx="9055303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55354" cy="12700"/>
            </a:xfrm>
            <a:custGeom>
              <a:avLst/>
              <a:gdLst/>
              <a:ahLst/>
              <a:cxnLst/>
              <a:rect r="r" b="b" t="t" l="l"/>
              <a:pathLst>
                <a:path h="12700" w="9055354">
                  <a:moveTo>
                    <a:pt x="0" y="0"/>
                  </a:moveTo>
                  <a:lnTo>
                    <a:pt x="9055354" y="0"/>
                  </a:lnTo>
                  <a:lnTo>
                    <a:pt x="905535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664600" y="2257082"/>
            <a:ext cx="2162423" cy="34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Muhammad Moiz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95766" y="2257082"/>
            <a:ext cx="985714" cy="34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5F1E8">
                    <a:alpha val="69804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464192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39206" y="3460404"/>
            <a:ext cx="6791477" cy="9525"/>
            <a:chOff x="0" y="0"/>
            <a:chExt cx="9055303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55354" cy="12700"/>
            </a:xfrm>
            <a:custGeom>
              <a:avLst/>
              <a:gdLst/>
              <a:ahLst/>
              <a:cxnLst/>
              <a:rect r="r" b="b" t="t" l="l"/>
              <a:pathLst>
                <a:path h="12700" w="9055354">
                  <a:moveTo>
                    <a:pt x="0" y="0"/>
                  </a:moveTo>
                  <a:lnTo>
                    <a:pt x="9055354" y="0"/>
                  </a:lnTo>
                  <a:lnTo>
                    <a:pt x="905535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664600" y="2957170"/>
            <a:ext cx="3381280" cy="34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Muhammad Haseeb ul Haq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95766" y="2957170"/>
            <a:ext cx="985714" cy="34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5F1E8">
                    <a:alpha val="69804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454512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64600" y="8100736"/>
            <a:ext cx="6944420" cy="21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300">
                <a:solidFill>
                  <a:srgbClr val="F5F1E8">
                    <a:alpha val="54902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INSTRUCTOR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64600" y="8534124"/>
            <a:ext cx="3866852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3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Ma’am </a:t>
            </a:r>
            <a:r>
              <a:rPr lang="en-US" sz="33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Nikhar Azhar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64600" y="9326566"/>
            <a:ext cx="56395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300">
                <a:solidFill>
                  <a:srgbClr val="F5F1E8">
                    <a:alpha val="54902"/>
                  </a:srgbClr>
                </a:solidFill>
                <a:latin typeface="Courier New"/>
                <a:ea typeface="Courier New"/>
                <a:cs typeface="Courier New"/>
                <a:sym typeface="Courier New"/>
              </a:rPr>
              <a:t>SEMESTER PROJECT ·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2745648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02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Reading emotion from a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48×48 </a:t>
            </a: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grayscale face.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3225203"/>
            <a:ext cx="13684253" cy="100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  <a:r>
              <a:rPr lang="en-US" sz="3300" i="true">
                <a:solidFill>
                  <a:srgbClr val="3D3A36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A multi-class image classification problem with seven possible labels — and a lot of ways to get it wrong.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5097066"/>
            <a:ext cx="28575" cy="1348607"/>
            <a:chOff x="0" y="0"/>
            <a:chExt cx="38100" cy="17981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1798193"/>
            </a:xfrm>
            <a:custGeom>
              <a:avLst/>
              <a:gdLst/>
              <a:ahLst/>
              <a:cxnLst/>
              <a:rect r="r" b="b" t="t" l="l"/>
              <a:pathLst>
                <a:path h="1798193" w="38100">
                  <a:moveTo>
                    <a:pt x="0" y="0"/>
                  </a:moveTo>
                  <a:lnTo>
                    <a:pt x="38100" y="0"/>
                  </a:lnTo>
                  <a:lnTo>
                    <a:pt x="38100" y="1798193"/>
                  </a:lnTo>
                  <a:lnTo>
                    <a:pt x="0" y="1798193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39878" y="5046269"/>
            <a:ext cx="7844157" cy="159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00" i="true">
                <a:solidFill>
                  <a:srgbClr val="1A1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A face showing </a:t>
            </a:r>
            <a:r>
              <a:rPr lang="en-US" sz="30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fear </a:t>
            </a:r>
            <a:r>
              <a:rPr lang="en-US" sz="3000" i="true">
                <a:solidFill>
                  <a:srgbClr val="1A1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can look almost identical to one showing </a:t>
            </a:r>
            <a:r>
              <a:rPr lang="en-US" sz="30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surprise </a:t>
            </a:r>
            <a:r>
              <a:rPr lang="en-US" sz="3000" i="true">
                <a:solidFill>
                  <a:srgbClr val="1A1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— and at 48 pixels, the difference can disappear entirely.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03759" y="5097066"/>
            <a:ext cx="7341241" cy="1396308"/>
            <a:chOff x="0" y="0"/>
            <a:chExt cx="9788322" cy="18617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88271" cy="1861693"/>
            </a:xfrm>
            <a:custGeom>
              <a:avLst/>
              <a:gdLst/>
              <a:ahLst/>
              <a:cxnLst/>
              <a:rect r="r" b="b" t="t" l="l"/>
              <a:pathLst>
                <a:path h="1861693" w="978827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9762871" y="0"/>
                  </a:lnTo>
                  <a:cubicBezTo>
                    <a:pt x="9776840" y="0"/>
                    <a:pt x="9788271" y="11430"/>
                    <a:pt x="9788271" y="25400"/>
                  </a:cubicBezTo>
                  <a:lnTo>
                    <a:pt x="9788271" y="1836293"/>
                  </a:lnTo>
                  <a:cubicBezTo>
                    <a:pt x="9788271" y="1850263"/>
                    <a:pt x="9776840" y="1861693"/>
                    <a:pt x="9762871" y="1861693"/>
                  </a:cubicBezTo>
                  <a:lnTo>
                    <a:pt x="25400" y="1861693"/>
                  </a:lnTo>
                  <a:cubicBezTo>
                    <a:pt x="11430" y="1861693"/>
                    <a:pt x="0" y="1850263"/>
                    <a:pt x="0" y="1836293"/>
                  </a:cubicBez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14902" y="5312969"/>
            <a:ext cx="6922037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WHY IT'S HARD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14902" y="5632056"/>
            <a:ext cx="6922037" cy="6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Expressions vary across people, lighting, and angle. Subtle features — a furrowed brow, a half-smile — are washed out by low resolution.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03759" y="6645773"/>
            <a:ext cx="7341241" cy="1396308"/>
            <a:chOff x="0" y="0"/>
            <a:chExt cx="9788322" cy="18617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88271" cy="1861693"/>
            </a:xfrm>
            <a:custGeom>
              <a:avLst/>
              <a:gdLst/>
              <a:ahLst/>
              <a:cxnLst/>
              <a:rect r="r" b="b" t="t" l="l"/>
              <a:pathLst>
                <a:path h="1861693" w="9788271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9762871" y="0"/>
                  </a:lnTo>
                  <a:cubicBezTo>
                    <a:pt x="9776840" y="0"/>
                    <a:pt x="9788271" y="11430"/>
                    <a:pt x="9788271" y="25400"/>
                  </a:cubicBezTo>
                  <a:lnTo>
                    <a:pt x="9788271" y="1836293"/>
                  </a:lnTo>
                  <a:cubicBezTo>
                    <a:pt x="9788271" y="1850263"/>
                    <a:pt x="9776840" y="1861693"/>
                    <a:pt x="9762871" y="1861693"/>
                  </a:cubicBezTo>
                  <a:lnTo>
                    <a:pt x="25400" y="1861693"/>
                  </a:lnTo>
                  <a:cubicBezTo>
                    <a:pt x="11430" y="1861693"/>
                    <a:pt x="0" y="1850263"/>
                    <a:pt x="0" y="1836293"/>
                  </a:cubicBez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114902" y="6861667"/>
            <a:ext cx="6922037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WHY IT MATTERS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4902" y="7180755"/>
            <a:ext cx="6922037" cy="6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Applications in healthcare, accessibility, customer experience, and HCI — wherever a system needs to read affect.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9152" y="8296075"/>
            <a:ext cx="7510682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2C3A4A"/>
                </a:solidFill>
                <a:latin typeface="Arial"/>
                <a:ea typeface="Arial"/>
                <a:cs typeface="Arial"/>
                <a:sym typeface="Arial"/>
              </a:rPr>
              <a:t>OUR QUESTION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29152" y="8586587"/>
            <a:ext cx="7510682" cy="34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 i="true">
                <a:solidFill>
                  <a:srgbClr val="1A1A1A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Which deep learning techniques helped the most, and why?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8238" y="6242075"/>
            <a:ext cx="1838916" cy="523875"/>
            <a:chOff x="0" y="0"/>
            <a:chExt cx="2451887" cy="69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51862" cy="698500"/>
            </a:xfrm>
            <a:custGeom>
              <a:avLst/>
              <a:gdLst/>
              <a:ahLst/>
              <a:cxnLst/>
              <a:rect r="r" b="b" t="t" l="l"/>
              <a:pathLst>
                <a:path h="698500" w="2451862">
                  <a:moveTo>
                    <a:pt x="0" y="349250"/>
                  </a:moveTo>
                  <a:cubicBezTo>
                    <a:pt x="0" y="156337"/>
                    <a:pt x="158496" y="0"/>
                    <a:pt x="353822" y="0"/>
                  </a:cubicBezTo>
                  <a:lnTo>
                    <a:pt x="2098040" y="0"/>
                  </a:lnTo>
                  <a:lnTo>
                    <a:pt x="2098040" y="6350"/>
                  </a:lnTo>
                  <a:lnTo>
                    <a:pt x="2098040" y="0"/>
                  </a:lnTo>
                  <a:cubicBezTo>
                    <a:pt x="2293366" y="0"/>
                    <a:pt x="2451862" y="156337"/>
                    <a:pt x="2451862" y="349250"/>
                  </a:cubicBezTo>
                  <a:lnTo>
                    <a:pt x="2445512" y="349250"/>
                  </a:lnTo>
                  <a:lnTo>
                    <a:pt x="2451862" y="349250"/>
                  </a:lnTo>
                  <a:lnTo>
                    <a:pt x="2445512" y="349250"/>
                  </a:lnTo>
                  <a:lnTo>
                    <a:pt x="2451862" y="349250"/>
                  </a:lnTo>
                  <a:cubicBezTo>
                    <a:pt x="2451862" y="542163"/>
                    <a:pt x="2293366" y="698500"/>
                    <a:pt x="2098040" y="698500"/>
                  </a:cubicBezTo>
                  <a:lnTo>
                    <a:pt x="2098040" y="692150"/>
                  </a:lnTo>
                  <a:lnTo>
                    <a:pt x="2098040" y="698500"/>
                  </a:lnTo>
                  <a:lnTo>
                    <a:pt x="353822" y="698500"/>
                  </a:lnTo>
                  <a:lnTo>
                    <a:pt x="353822" y="692150"/>
                  </a:lnTo>
                  <a:lnTo>
                    <a:pt x="353822" y="698500"/>
                  </a:lnTo>
                  <a:cubicBezTo>
                    <a:pt x="158496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354" y="685800"/>
                    <a:pt x="353822" y="685800"/>
                  </a:cubicBezTo>
                  <a:lnTo>
                    <a:pt x="2098040" y="685800"/>
                  </a:lnTo>
                  <a:cubicBezTo>
                    <a:pt x="2286508" y="685800"/>
                    <a:pt x="2439162" y="535051"/>
                    <a:pt x="2439162" y="349250"/>
                  </a:cubicBezTo>
                  <a:cubicBezTo>
                    <a:pt x="2439162" y="163449"/>
                    <a:pt x="2286508" y="12700"/>
                    <a:pt x="2098040" y="12700"/>
                  </a:cubicBezTo>
                  <a:lnTo>
                    <a:pt x="353822" y="12700"/>
                  </a:lnTo>
                  <a:lnTo>
                    <a:pt x="353822" y="6350"/>
                  </a:lnTo>
                  <a:lnTo>
                    <a:pt x="353822" y="12700"/>
                  </a:lnTo>
                  <a:cubicBezTo>
                    <a:pt x="165354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00978" y="6242075"/>
            <a:ext cx="1915049" cy="523875"/>
            <a:chOff x="0" y="0"/>
            <a:chExt cx="2553398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3335" cy="698500"/>
            </a:xfrm>
            <a:custGeom>
              <a:avLst/>
              <a:gdLst/>
              <a:ahLst/>
              <a:cxnLst/>
              <a:rect r="r" b="b" t="t" l="l"/>
              <a:pathLst>
                <a:path h="698500" w="2553335">
                  <a:moveTo>
                    <a:pt x="0" y="349250"/>
                  </a:moveTo>
                  <a:cubicBezTo>
                    <a:pt x="0" y="156337"/>
                    <a:pt x="158496" y="0"/>
                    <a:pt x="353822" y="0"/>
                  </a:cubicBezTo>
                  <a:lnTo>
                    <a:pt x="2199513" y="0"/>
                  </a:lnTo>
                  <a:lnTo>
                    <a:pt x="2199513" y="6350"/>
                  </a:lnTo>
                  <a:lnTo>
                    <a:pt x="2199513" y="0"/>
                  </a:lnTo>
                  <a:cubicBezTo>
                    <a:pt x="2394839" y="0"/>
                    <a:pt x="2553335" y="156337"/>
                    <a:pt x="2553335" y="349250"/>
                  </a:cubicBezTo>
                  <a:lnTo>
                    <a:pt x="2546985" y="349250"/>
                  </a:lnTo>
                  <a:lnTo>
                    <a:pt x="2553335" y="349250"/>
                  </a:lnTo>
                  <a:lnTo>
                    <a:pt x="2546985" y="349250"/>
                  </a:lnTo>
                  <a:lnTo>
                    <a:pt x="2553335" y="349250"/>
                  </a:lnTo>
                  <a:cubicBezTo>
                    <a:pt x="2553335" y="542163"/>
                    <a:pt x="2394839" y="698500"/>
                    <a:pt x="2199513" y="698500"/>
                  </a:cubicBezTo>
                  <a:lnTo>
                    <a:pt x="2199513" y="692150"/>
                  </a:lnTo>
                  <a:lnTo>
                    <a:pt x="2199513" y="698500"/>
                  </a:lnTo>
                  <a:lnTo>
                    <a:pt x="353822" y="698500"/>
                  </a:lnTo>
                  <a:lnTo>
                    <a:pt x="353822" y="692150"/>
                  </a:lnTo>
                  <a:lnTo>
                    <a:pt x="353822" y="698500"/>
                  </a:lnTo>
                  <a:cubicBezTo>
                    <a:pt x="158496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354" y="685800"/>
                    <a:pt x="353822" y="685800"/>
                  </a:cubicBezTo>
                  <a:lnTo>
                    <a:pt x="2199513" y="685800"/>
                  </a:lnTo>
                  <a:cubicBezTo>
                    <a:pt x="2387981" y="685800"/>
                    <a:pt x="2540635" y="535051"/>
                    <a:pt x="2540635" y="349250"/>
                  </a:cubicBezTo>
                  <a:cubicBezTo>
                    <a:pt x="2540635" y="163449"/>
                    <a:pt x="2387981" y="12700"/>
                    <a:pt x="2199513" y="12700"/>
                  </a:cubicBezTo>
                  <a:lnTo>
                    <a:pt x="353822" y="12700"/>
                  </a:lnTo>
                  <a:lnTo>
                    <a:pt x="353822" y="6350"/>
                  </a:lnTo>
                  <a:lnTo>
                    <a:pt x="353822" y="12700"/>
                  </a:lnTo>
                  <a:cubicBezTo>
                    <a:pt x="165354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39852" y="6242075"/>
            <a:ext cx="1584874" cy="523875"/>
            <a:chOff x="0" y="0"/>
            <a:chExt cx="2113166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153" cy="698500"/>
            </a:xfrm>
            <a:custGeom>
              <a:avLst/>
              <a:gdLst/>
              <a:ahLst/>
              <a:cxnLst/>
              <a:rect r="r" b="b" t="t" l="l"/>
              <a:pathLst>
                <a:path h="698500" w="2113153">
                  <a:moveTo>
                    <a:pt x="0" y="349250"/>
                  </a:moveTo>
                  <a:cubicBezTo>
                    <a:pt x="0" y="156337"/>
                    <a:pt x="158369" y="0"/>
                    <a:pt x="353441" y="0"/>
                  </a:cubicBezTo>
                  <a:lnTo>
                    <a:pt x="1759712" y="0"/>
                  </a:lnTo>
                  <a:lnTo>
                    <a:pt x="1759712" y="6350"/>
                  </a:lnTo>
                  <a:lnTo>
                    <a:pt x="1759712" y="0"/>
                  </a:lnTo>
                  <a:lnTo>
                    <a:pt x="1759712" y="6350"/>
                  </a:lnTo>
                  <a:lnTo>
                    <a:pt x="1759712" y="0"/>
                  </a:lnTo>
                  <a:cubicBezTo>
                    <a:pt x="1954911" y="0"/>
                    <a:pt x="2113153" y="156337"/>
                    <a:pt x="2113153" y="349250"/>
                  </a:cubicBezTo>
                  <a:lnTo>
                    <a:pt x="2106803" y="349250"/>
                  </a:lnTo>
                  <a:lnTo>
                    <a:pt x="2113153" y="349250"/>
                  </a:lnTo>
                  <a:lnTo>
                    <a:pt x="2106803" y="349250"/>
                  </a:lnTo>
                  <a:lnTo>
                    <a:pt x="2113153" y="349250"/>
                  </a:lnTo>
                  <a:cubicBezTo>
                    <a:pt x="2113153" y="542163"/>
                    <a:pt x="1954784" y="698500"/>
                    <a:pt x="1759712" y="698500"/>
                  </a:cubicBezTo>
                  <a:lnTo>
                    <a:pt x="1759712" y="692150"/>
                  </a:lnTo>
                  <a:lnTo>
                    <a:pt x="1759712" y="698500"/>
                  </a:lnTo>
                  <a:lnTo>
                    <a:pt x="353441" y="698500"/>
                  </a:lnTo>
                  <a:lnTo>
                    <a:pt x="353441" y="692150"/>
                  </a:lnTo>
                  <a:lnTo>
                    <a:pt x="353441" y="698500"/>
                  </a:lnTo>
                  <a:cubicBezTo>
                    <a:pt x="158369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227" y="685800"/>
                    <a:pt x="353441" y="685800"/>
                  </a:cubicBezTo>
                  <a:lnTo>
                    <a:pt x="1759712" y="685800"/>
                  </a:lnTo>
                  <a:cubicBezTo>
                    <a:pt x="1948053" y="685800"/>
                    <a:pt x="2100453" y="535051"/>
                    <a:pt x="2100453" y="349250"/>
                  </a:cubicBezTo>
                  <a:cubicBezTo>
                    <a:pt x="2100453" y="163449"/>
                    <a:pt x="1947926" y="12700"/>
                    <a:pt x="1759712" y="12700"/>
                  </a:cubicBezTo>
                  <a:lnTo>
                    <a:pt x="353441" y="12700"/>
                  </a:lnTo>
                  <a:lnTo>
                    <a:pt x="353441" y="6350"/>
                  </a:lnTo>
                  <a:lnTo>
                    <a:pt x="353441" y="12700"/>
                  </a:lnTo>
                  <a:cubicBezTo>
                    <a:pt x="165227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48551" y="6242075"/>
            <a:ext cx="1648120" cy="523875"/>
            <a:chOff x="0" y="0"/>
            <a:chExt cx="2197494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481" cy="698500"/>
            </a:xfrm>
            <a:custGeom>
              <a:avLst/>
              <a:gdLst/>
              <a:ahLst/>
              <a:cxnLst/>
              <a:rect r="r" b="b" t="t" l="l"/>
              <a:pathLst>
                <a:path h="698500" w="2197481">
                  <a:moveTo>
                    <a:pt x="0" y="349250"/>
                  </a:moveTo>
                  <a:cubicBezTo>
                    <a:pt x="0" y="156337"/>
                    <a:pt x="158369" y="0"/>
                    <a:pt x="353568" y="0"/>
                  </a:cubicBezTo>
                  <a:lnTo>
                    <a:pt x="1843913" y="0"/>
                  </a:lnTo>
                  <a:lnTo>
                    <a:pt x="1843913" y="6350"/>
                  </a:lnTo>
                  <a:lnTo>
                    <a:pt x="1843913" y="0"/>
                  </a:lnTo>
                  <a:cubicBezTo>
                    <a:pt x="2039112" y="0"/>
                    <a:pt x="2197481" y="156337"/>
                    <a:pt x="2197481" y="349250"/>
                  </a:cubicBezTo>
                  <a:lnTo>
                    <a:pt x="2191131" y="349250"/>
                  </a:lnTo>
                  <a:lnTo>
                    <a:pt x="2197481" y="349250"/>
                  </a:lnTo>
                  <a:lnTo>
                    <a:pt x="2191131" y="349250"/>
                  </a:lnTo>
                  <a:lnTo>
                    <a:pt x="2197481" y="349250"/>
                  </a:lnTo>
                  <a:cubicBezTo>
                    <a:pt x="2197481" y="542163"/>
                    <a:pt x="2039112" y="698500"/>
                    <a:pt x="1843913" y="698500"/>
                  </a:cubicBezTo>
                  <a:lnTo>
                    <a:pt x="1843913" y="692150"/>
                  </a:lnTo>
                  <a:lnTo>
                    <a:pt x="1843913" y="698500"/>
                  </a:lnTo>
                  <a:lnTo>
                    <a:pt x="353568" y="698500"/>
                  </a:lnTo>
                  <a:lnTo>
                    <a:pt x="353568" y="692150"/>
                  </a:lnTo>
                  <a:lnTo>
                    <a:pt x="353568" y="698500"/>
                  </a:lnTo>
                  <a:cubicBezTo>
                    <a:pt x="158369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227" y="685800"/>
                    <a:pt x="353568" y="685800"/>
                  </a:cubicBezTo>
                  <a:lnTo>
                    <a:pt x="1843913" y="685800"/>
                  </a:lnTo>
                  <a:cubicBezTo>
                    <a:pt x="2032254" y="685800"/>
                    <a:pt x="2184781" y="535051"/>
                    <a:pt x="2184781" y="349250"/>
                  </a:cubicBezTo>
                  <a:cubicBezTo>
                    <a:pt x="2184781" y="163449"/>
                    <a:pt x="2032254" y="12700"/>
                    <a:pt x="1843913" y="12700"/>
                  </a:cubicBezTo>
                  <a:lnTo>
                    <a:pt x="353568" y="12700"/>
                  </a:lnTo>
                  <a:lnTo>
                    <a:pt x="353568" y="6350"/>
                  </a:lnTo>
                  <a:lnTo>
                    <a:pt x="353568" y="12700"/>
                  </a:lnTo>
                  <a:cubicBezTo>
                    <a:pt x="165227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8238" y="6889775"/>
            <a:ext cx="1775298" cy="523875"/>
            <a:chOff x="0" y="0"/>
            <a:chExt cx="2367064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67026" cy="698500"/>
            </a:xfrm>
            <a:custGeom>
              <a:avLst/>
              <a:gdLst/>
              <a:ahLst/>
              <a:cxnLst/>
              <a:rect r="r" b="b" t="t" l="l"/>
              <a:pathLst>
                <a:path h="698500" w="2367026">
                  <a:moveTo>
                    <a:pt x="0" y="349250"/>
                  </a:moveTo>
                  <a:cubicBezTo>
                    <a:pt x="0" y="156337"/>
                    <a:pt x="158496" y="0"/>
                    <a:pt x="353695" y="0"/>
                  </a:cubicBezTo>
                  <a:lnTo>
                    <a:pt x="2013331" y="0"/>
                  </a:lnTo>
                  <a:lnTo>
                    <a:pt x="2013331" y="6350"/>
                  </a:lnTo>
                  <a:lnTo>
                    <a:pt x="2013331" y="0"/>
                  </a:lnTo>
                  <a:cubicBezTo>
                    <a:pt x="2208657" y="0"/>
                    <a:pt x="2367026" y="156337"/>
                    <a:pt x="2367026" y="349250"/>
                  </a:cubicBezTo>
                  <a:lnTo>
                    <a:pt x="2360676" y="349250"/>
                  </a:lnTo>
                  <a:lnTo>
                    <a:pt x="2367026" y="349250"/>
                  </a:lnTo>
                  <a:lnTo>
                    <a:pt x="2360676" y="349250"/>
                  </a:lnTo>
                  <a:lnTo>
                    <a:pt x="2367026" y="349250"/>
                  </a:lnTo>
                  <a:cubicBezTo>
                    <a:pt x="2367026" y="542163"/>
                    <a:pt x="2208530" y="698500"/>
                    <a:pt x="2013331" y="698500"/>
                  </a:cubicBezTo>
                  <a:lnTo>
                    <a:pt x="2013331" y="692150"/>
                  </a:lnTo>
                  <a:lnTo>
                    <a:pt x="2013331" y="698500"/>
                  </a:lnTo>
                  <a:lnTo>
                    <a:pt x="353695" y="698500"/>
                  </a:lnTo>
                  <a:lnTo>
                    <a:pt x="353695" y="692150"/>
                  </a:lnTo>
                  <a:lnTo>
                    <a:pt x="353695" y="698500"/>
                  </a:lnTo>
                  <a:cubicBezTo>
                    <a:pt x="158496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354" y="685800"/>
                    <a:pt x="353695" y="685800"/>
                  </a:cubicBezTo>
                  <a:lnTo>
                    <a:pt x="2013331" y="685800"/>
                  </a:lnTo>
                  <a:cubicBezTo>
                    <a:pt x="2201799" y="685800"/>
                    <a:pt x="2354326" y="535051"/>
                    <a:pt x="2354326" y="349250"/>
                  </a:cubicBezTo>
                  <a:cubicBezTo>
                    <a:pt x="2354326" y="163449"/>
                    <a:pt x="2201799" y="12700"/>
                    <a:pt x="2013331" y="12700"/>
                  </a:cubicBezTo>
                  <a:lnTo>
                    <a:pt x="353695" y="12700"/>
                  </a:lnTo>
                  <a:lnTo>
                    <a:pt x="353695" y="6350"/>
                  </a:lnTo>
                  <a:lnTo>
                    <a:pt x="353695" y="12700"/>
                  </a:lnTo>
                  <a:cubicBezTo>
                    <a:pt x="165354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37361" y="6889775"/>
            <a:ext cx="2029349" cy="523875"/>
            <a:chOff x="0" y="0"/>
            <a:chExt cx="2705798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05735" cy="698500"/>
            </a:xfrm>
            <a:custGeom>
              <a:avLst/>
              <a:gdLst/>
              <a:ahLst/>
              <a:cxnLst/>
              <a:rect r="r" b="b" t="t" l="l"/>
              <a:pathLst>
                <a:path h="698500" w="2705735">
                  <a:moveTo>
                    <a:pt x="0" y="349250"/>
                  </a:moveTo>
                  <a:cubicBezTo>
                    <a:pt x="0" y="156337"/>
                    <a:pt x="158496" y="0"/>
                    <a:pt x="353949" y="0"/>
                  </a:cubicBezTo>
                  <a:lnTo>
                    <a:pt x="2351786" y="0"/>
                  </a:lnTo>
                  <a:lnTo>
                    <a:pt x="2351786" y="6350"/>
                  </a:lnTo>
                  <a:lnTo>
                    <a:pt x="2351786" y="0"/>
                  </a:lnTo>
                  <a:cubicBezTo>
                    <a:pt x="2547239" y="0"/>
                    <a:pt x="2705735" y="156337"/>
                    <a:pt x="2705735" y="349250"/>
                  </a:cubicBezTo>
                  <a:lnTo>
                    <a:pt x="2699385" y="349250"/>
                  </a:lnTo>
                  <a:lnTo>
                    <a:pt x="2705735" y="349250"/>
                  </a:lnTo>
                  <a:lnTo>
                    <a:pt x="2699385" y="349250"/>
                  </a:lnTo>
                  <a:lnTo>
                    <a:pt x="2705735" y="349250"/>
                  </a:lnTo>
                  <a:cubicBezTo>
                    <a:pt x="2705735" y="542163"/>
                    <a:pt x="2547239" y="698500"/>
                    <a:pt x="2351786" y="698500"/>
                  </a:cubicBezTo>
                  <a:lnTo>
                    <a:pt x="2351786" y="692150"/>
                  </a:lnTo>
                  <a:lnTo>
                    <a:pt x="2351786" y="698500"/>
                  </a:lnTo>
                  <a:lnTo>
                    <a:pt x="353949" y="698500"/>
                  </a:lnTo>
                  <a:lnTo>
                    <a:pt x="353949" y="692150"/>
                  </a:lnTo>
                  <a:lnTo>
                    <a:pt x="353949" y="698500"/>
                  </a:lnTo>
                  <a:cubicBezTo>
                    <a:pt x="158496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354" y="685800"/>
                    <a:pt x="353949" y="685800"/>
                  </a:cubicBezTo>
                  <a:lnTo>
                    <a:pt x="2351786" y="685800"/>
                  </a:lnTo>
                  <a:cubicBezTo>
                    <a:pt x="2540381" y="685800"/>
                    <a:pt x="2693035" y="535051"/>
                    <a:pt x="2693035" y="349250"/>
                  </a:cubicBezTo>
                  <a:cubicBezTo>
                    <a:pt x="2693035" y="163449"/>
                    <a:pt x="2540381" y="12700"/>
                    <a:pt x="2351786" y="12700"/>
                  </a:cubicBezTo>
                  <a:lnTo>
                    <a:pt x="353949" y="12700"/>
                  </a:lnTo>
                  <a:lnTo>
                    <a:pt x="353949" y="6350"/>
                  </a:lnTo>
                  <a:lnTo>
                    <a:pt x="353949" y="12700"/>
                  </a:lnTo>
                  <a:cubicBezTo>
                    <a:pt x="165354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190525" y="6889775"/>
            <a:ext cx="1711671" cy="523875"/>
            <a:chOff x="0" y="0"/>
            <a:chExt cx="2282228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2317" cy="698500"/>
            </a:xfrm>
            <a:custGeom>
              <a:avLst/>
              <a:gdLst/>
              <a:ahLst/>
              <a:cxnLst/>
              <a:rect r="r" b="b" t="t" l="l"/>
              <a:pathLst>
                <a:path h="698500" w="2282317">
                  <a:moveTo>
                    <a:pt x="0" y="349250"/>
                  </a:moveTo>
                  <a:cubicBezTo>
                    <a:pt x="0" y="156337"/>
                    <a:pt x="158369" y="0"/>
                    <a:pt x="353695" y="0"/>
                  </a:cubicBezTo>
                  <a:lnTo>
                    <a:pt x="1928622" y="0"/>
                  </a:lnTo>
                  <a:lnTo>
                    <a:pt x="1928622" y="6350"/>
                  </a:lnTo>
                  <a:lnTo>
                    <a:pt x="1928622" y="0"/>
                  </a:lnTo>
                  <a:cubicBezTo>
                    <a:pt x="2123821" y="0"/>
                    <a:pt x="2282317" y="156337"/>
                    <a:pt x="2282317" y="349250"/>
                  </a:cubicBezTo>
                  <a:lnTo>
                    <a:pt x="2275967" y="349250"/>
                  </a:lnTo>
                  <a:lnTo>
                    <a:pt x="2282317" y="349250"/>
                  </a:lnTo>
                  <a:lnTo>
                    <a:pt x="2275967" y="349250"/>
                  </a:lnTo>
                  <a:lnTo>
                    <a:pt x="2282317" y="349250"/>
                  </a:lnTo>
                  <a:cubicBezTo>
                    <a:pt x="2282317" y="542163"/>
                    <a:pt x="2123948" y="698500"/>
                    <a:pt x="1928622" y="698500"/>
                  </a:cubicBezTo>
                  <a:lnTo>
                    <a:pt x="1928622" y="692150"/>
                  </a:lnTo>
                  <a:lnTo>
                    <a:pt x="1928622" y="698500"/>
                  </a:lnTo>
                  <a:lnTo>
                    <a:pt x="353695" y="698500"/>
                  </a:lnTo>
                  <a:lnTo>
                    <a:pt x="353695" y="692150"/>
                  </a:lnTo>
                  <a:lnTo>
                    <a:pt x="353695" y="698500"/>
                  </a:lnTo>
                  <a:cubicBezTo>
                    <a:pt x="158369" y="698500"/>
                    <a:pt x="0" y="542163"/>
                    <a:pt x="0" y="349250"/>
                  </a:cubicBezTo>
                  <a:lnTo>
                    <a:pt x="6350" y="349250"/>
                  </a:lnTo>
                  <a:lnTo>
                    <a:pt x="0" y="349250"/>
                  </a:lnTo>
                  <a:moveTo>
                    <a:pt x="12700" y="349250"/>
                  </a:moveTo>
                  <a:lnTo>
                    <a:pt x="6350" y="349250"/>
                  </a:lnTo>
                  <a:lnTo>
                    <a:pt x="12700" y="349250"/>
                  </a:lnTo>
                  <a:cubicBezTo>
                    <a:pt x="12700" y="535051"/>
                    <a:pt x="165227" y="685800"/>
                    <a:pt x="353695" y="685800"/>
                  </a:cubicBezTo>
                  <a:lnTo>
                    <a:pt x="1928622" y="685800"/>
                  </a:lnTo>
                  <a:cubicBezTo>
                    <a:pt x="2116963" y="685800"/>
                    <a:pt x="2269617" y="535051"/>
                    <a:pt x="2269617" y="349250"/>
                  </a:cubicBezTo>
                  <a:cubicBezTo>
                    <a:pt x="2269617" y="163449"/>
                    <a:pt x="2116963" y="12700"/>
                    <a:pt x="1928622" y="12700"/>
                  </a:cubicBezTo>
                  <a:lnTo>
                    <a:pt x="353695" y="12700"/>
                  </a:lnTo>
                  <a:lnTo>
                    <a:pt x="353695" y="6350"/>
                  </a:lnTo>
                  <a:lnTo>
                    <a:pt x="353695" y="12700"/>
                  </a:lnTo>
                  <a:cubicBezTo>
                    <a:pt x="165227" y="12700"/>
                    <a:pt x="12700" y="163449"/>
                    <a:pt x="12700" y="349250"/>
                  </a:cubicBez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839571" y="6025944"/>
            <a:ext cx="9448429" cy="2988066"/>
          </a:xfrm>
          <a:custGeom>
            <a:avLst/>
            <a:gdLst/>
            <a:ahLst/>
            <a:cxnLst/>
            <a:rect r="r" b="b" t="t" l="l"/>
            <a:pathLst>
              <a:path h="2988066" w="9448429">
                <a:moveTo>
                  <a:pt x="0" y="0"/>
                </a:moveTo>
                <a:lnTo>
                  <a:pt x="9448429" y="0"/>
                </a:lnTo>
                <a:lnTo>
                  <a:pt x="9448429" y="2988066"/>
                </a:lnTo>
                <a:lnTo>
                  <a:pt x="0" y="2988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68403" y="863603"/>
            <a:ext cx="1669056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THE DATASET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03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FER-2013 · ICML 2013 CHALLENGES IN REPRESENTATION LEARNING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35,709 faces. Seven emotions.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One stubborn imbalance.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8403" y="3615728"/>
            <a:ext cx="5076930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4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24,402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8403" y="4653953"/>
            <a:ext cx="5076930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88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TRAINING SET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8403" y="4987328"/>
            <a:ext cx="5076930" cy="39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After reserving 15% as 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80178" y="3615728"/>
            <a:ext cx="5076930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4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4,307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80178" y="4653953"/>
            <a:ext cx="5076930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88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VALIDATION 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80178" y="4987328"/>
            <a:ext cx="5076930" cy="39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Carved out from training 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1952" y="3615728"/>
            <a:ext cx="5077006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spc="-14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7,178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1952" y="4653953"/>
            <a:ext cx="5077006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88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TEST SET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1952" y="4987328"/>
            <a:ext cx="5077006" cy="39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Held out, never seen during training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8403" y="5848379"/>
            <a:ext cx="7744987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SEVEN CLASSES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7478" y="6377016"/>
            <a:ext cx="1416644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Happy </a:t>
            </a:r>
            <a:r>
              <a:rPr lang="en-US" sz="1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7,215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50219" y="6377016"/>
            <a:ext cx="1492768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Neutral </a:t>
            </a:r>
            <a:r>
              <a:rPr lang="en-US" sz="1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4,965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389093" y="6386541"/>
            <a:ext cx="1162593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D3A36"/>
                </a:solidFill>
                <a:latin typeface="Courier New"/>
                <a:ea typeface="Courier New"/>
                <a:cs typeface="Courier New"/>
                <a:sym typeface="Courier New"/>
              </a:rPr>
              <a:t>Sad </a:t>
            </a:r>
            <a:r>
              <a:rPr lang="en-US" sz="1500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4,830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97782" y="6377016"/>
            <a:ext cx="1225848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Fear </a:t>
            </a:r>
            <a:r>
              <a:rPr lang="en-US" sz="1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4,097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7478" y="7024716"/>
            <a:ext cx="1353017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Angry </a:t>
            </a:r>
            <a:r>
              <a:rPr lang="en-US" sz="1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3,995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86592" y="7024716"/>
            <a:ext cx="1607068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Surprise </a:t>
            </a:r>
            <a:r>
              <a:rPr lang="en-US" sz="1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3,171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39766" y="7024716"/>
            <a:ext cx="1289399" cy="27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Disgust 436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8403" y="7548591"/>
            <a:ext cx="7744987" cy="78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Disgust appears </a:t>
            </a:r>
            <a:r>
              <a:rPr lang="en-US" sz="1800" b="true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~10× less often </a:t>
            </a: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than Happy. We compensated with class weighting — Disgust earned the largest weight at 8.96.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1915220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04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PREPROCESSING &amp; TRAINING SETUP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 clean, controlled pipeline —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one variable at a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3806228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103" y="3806228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Image Preparation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7103" y="4201516"/>
            <a:ext cx="6738242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Read as grayscale via OpenCV, resized to 48×48, reshaped to (48,48,1), normalized to [0,1].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0403" y="3806228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9103" y="3806228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Label Encoding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79103" y="4201516"/>
            <a:ext cx="6738242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Emotion indices converted to one-hot vectors using Keras categorical utilities.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3" y="5470131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iii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7103" y="5470131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Class Weighting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7103" y="5865419"/>
            <a:ext cx="6738242" cy="107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Computed via sklearn's compute_class_weight("balanced") to fight the Disgust imbalance.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97103" y="7034908"/>
            <a:ext cx="6738242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disgust → 8.96 · happy → 0.54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50403" y="5470131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iv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9103" y="5470131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Optimizer &amp; 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79103" y="5865419"/>
            <a:ext cx="6738242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Adam at lr=0.001 (default), categorical cross-entropy loss. Batch size 64.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8403" y="7796908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v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97103" y="7796908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Training Length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7103" y="8192195"/>
            <a:ext cx="6738242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Max 30 epochs with EarlyStopping (patience 6) and ReduceLROnPlateau (factor 0.5, patience 3).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0403" y="7796908"/>
            <a:ext cx="787403" cy="5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vi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79103" y="7796908"/>
            <a:ext cx="6738242" cy="39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Checkpointing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79103" y="8192195"/>
            <a:ext cx="6738242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Best weights saved per run — letting us recover from Colab session crashes without restarting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2947302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EXPERIMENTAL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05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SEVEN CONFIGURATIONS · ONE VARIABLE AT A 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From a flat MLP to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transfer learning </a:t>
            </a: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— step by step.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3215678"/>
            <a:ext cx="12703178" cy="86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Each model changes exactly one thing from the last, so we can isolate the effect of every technique.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4961934"/>
            <a:ext cx="2076298" cy="4152900"/>
            <a:chOff x="0" y="0"/>
            <a:chExt cx="2768397" cy="553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8346" cy="5537200"/>
            </a:xfrm>
            <a:custGeom>
              <a:avLst/>
              <a:gdLst/>
              <a:ahLst/>
              <a:cxnLst/>
              <a:rect r="r" b="b" t="t" l="l"/>
              <a:pathLst>
                <a:path h="5537200" w="2768346">
                  <a:moveTo>
                    <a:pt x="0" y="0"/>
                  </a:moveTo>
                  <a:lnTo>
                    <a:pt x="2768346" y="0"/>
                  </a:lnTo>
                  <a:lnTo>
                    <a:pt x="2768346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77953" y="5244503"/>
            <a:ext cx="1682601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7953" y="5582641"/>
            <a:ext cx="1682601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MLP Baseline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7953" y="6306541"/>
            <a:ext cx="1682601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Flatten → dense layers only. No spatial structure.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7953" y="8473478"/>
            <a:ext cx="1682601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32.77 </a:t>
            </a:r>
            <a:r>
              <a:rPr lang="en-US" sz="330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390748" y="4961934"/>
            <a:ext cx="2076374" cy="4152900"/>
            <a:chOff x="0" y="0"/>
            <a:chExt cx="2768498" cy="553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68473" cy="5537200"/>
            </a:xfrm>
            <a:custGeom>
              <a:avLst/>
              <a:gdLst/>
              <a:ahLst/>
              <a:cxnLst/>
              <a:rect r="r" b="b" t="t" l="l"/>
              <a:pathLst>
                <a:path h="5537200" w="2768473">
                  <a:moveTo>
                    <a:pt x="0" y="0"/>
                  </a:moveTo>
                  <a:lnTo>
                    <a:pt x="2768473" y="0"/>
                  </a:lnTo>
                  <a:lnTo>
                    <a:pt x="2768473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625701" y="5244503"/>
            <a:ext cx="1682677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25701" y="5582641"/>
            <a:ext cx="1682677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Basic CNN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25701" y="5992216"/>
            <a:ext cx="1682677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3 conv + pool blocks. No regularization yet.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25701" y="8473478"/>
            <a:ext cx="1682677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53.78 </a:t>
            </a:r>
            <a:r>
              <a:rPr lang="en-US" sz="330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638581" y="4961934"/>
            <a:ext cx="2364286" cy="4152900"/>
            <a:chOff x="0" y="0"/>
            <a:chExt cx="3152381" cy="553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52394" cy="5537200"/>
            </a:xfrm>
            <a:custGeom>
              <a:avLst/>
              <a:gdLst/>
              <a:ahLst/>
              <a:cxnLst/>
              <a:rect r="r" b="b" t="t" l="l"/>
              <a:pathLst>
                <a:path h="5537200" w="3152394">
                  <a:moveTo>
                    <a:pt x="0" y="0"/>
                  </a:moveTo>
                  <a:lnTo>
                    <a:pt x="3152394" y="0"/>
                  </a:lnTo>
                  <a:lnTo>
                    <a:pt x="3152394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873525" y="5244503"/>
            <a:ext cx="1970580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73525" y="5582641"/>
            <a:ext cx="1970580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+ BatchNorm + Dropout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73525" y="6306541"/>
            <a:ext cx="1970580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Adds regularization and GlobalAveragePooling.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73525" y="8473478"/>
            <a:ext cx="1970580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54.39 </a:t>
            </a:r>
            <a:r>
              <a:rPr lang="en-US" sz="330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74307" y="4961934"/>
            <a:ext cx="2076374" cy="4152900"/>
            <a:chOff x="0" y="0"/>
            <a:chExt cx="2768498" cy="553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68473" cy="5537200"/>
            </a:xfrm>
            <a:custGeom>
              <a:avLst/>
              <a:gdLst/>
              <a:ahLst/>
              <a:cxnLst/>
              <a:rect r="r" b="b" t="t" l="l"/>
              <a:pathLst>
                <a:path h="5537200" w="2768473">
                  <a:moveTo>
                    <a:pt x="0" y="0"/>
                  </a:moveTo>
                  <a:lnTo>
                    <a:pt x="2768473" y="0"/>
                  </a:lnTo>
                  <a:lnTo>
                    <a:pt x="2768473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409261" y="5244503"/>
            <a:ext cx="1682677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09261" y="5582641"/>
            <a:ext cx="1682677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Optimizer Sweep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09261" y="6306541"/>
            <a:ext cx="1682677" cy="83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SGD vs Adam vs RMSProp on the same architecture.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09261" y="8473478"/>
            <a:ext cx="1682677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57.73 </a:t>
            </a:r>
            <a:r>
              <a:rPr lang="en-US" sz="330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422141" y="4961934"/>
            <a:ext cx="2227212" cy="4152900"/>
            <a:chOff x="0" y="0"/>
            <a:chExt cx="2969616" cy="553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69641" cy="5537200"/>
            </a:xfrm>
            <a:custGeom>
              <a:avLst/>
              <a:gdLst/>
              <a:ahLst/>
              <a:cxnLst/>
              <a:rect r="r" b="b" t="t" l="l"/>
              <a:pathLst>
                <a:path h="5537200" w="2969641">
                  <a:moveTo>
                    <a:pt x="0" y="0"/>
                  </a:moveTo>
                  <a:lnTo>
                    <a:pt x="2969641" y="0"/>
                  </a:lnTo>
                  <a:lnTo>
                    <a:pt x="2969641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198496" y="5187353"/>
            <a:ext cx="292103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★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57084" y="5244503"/>
            <a:ext cx="1833515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F5F1E8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57084" y="5582641"/>
            <a:ext cx="1833515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+ Data Augmentation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57084" y="6306541"/>
            <a:ext cx="1833515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F5F1E8">
                    <a:alpha val="69804"/>
                  </a:srgbClr>
                </a:solidFill>
                <a:latin typeface="Arial"/>
                <a:ea typeface="Arial"/>
                <a:cs typeface="Arial"/>
                <a:sym typeface="Arial"/>
              </a:rPr>
              <a:t>RandomFlip, rotation ≤15°, zoom ≤15%.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57084" y="8473478"/>
            <a:ext cx="1833515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58.30 </a:t>
            </a:r>
            <a:r>
              <a:rPr lang="en-US" sz="3300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820802" y="4961934"/>
            <a:ext cx="2076374" cy="4152900"/>
            <a:chOff x="0" y="0"/>
            <a:chExt cx="2768498" cy="553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68473" cy="5537200"/>
            </a:xfrm>
            <a:custGeom>
              <a:avLst/>
              <a:gdLst/>
              <a:ahLst/>
              <a:cxnLst/>
              <a:rect r="r" b="b" t="t" l="l"/>
              <a:pathLst>
                <a:path h="5537200" w="2768473">
                  <a:moveTo>
                    <a:pt x="0" y="0"/>
                  </a:moveTo>
                  <a:lnTo>
                    <a:pt x="2768473" y="0"/>
                  </a:lnTo>
                  <a:lnTo>
                    <a:pt x="2768473" y="5537200"/>
                  </a:lnTo>
                  <a:lnTo>
                    <a:pt x="0" y="55372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055746" y="5244503"/>
            <a:ext cx="1682677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055746" y="5582641"/>
            <a:ext cx="1682677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Transfer Learning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55746" y="6306541"/>
            <a:ext cx="1682677" cy="109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MobileNetV2, ImageNet pretrained, 2-phase fine-tune.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055746" y="8473478"/>
            <a:ext cx="1682677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37.60 </a:t>
            </a:r>
            <a:r>
              <a:rPr lang="en-US" sz="330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063864" y="4957172"/>
            <a:ext cx="2085899" cy="4162425"/>
            <a:chOff x="0" y="0"/>
            <a:chExt cx="2781198" cy="55499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81173" cy="5562600"/>
            </a:xfrm>
            <a:custGeom>
              <a:avLst/>
              <a:gdLst/>
              <a:ahLst/>
              <a:cxnLst/>
              <a:rect r="r" b="b" t="t" l="l"/>
              <a:pathLst>
                <a:path h="5562600" w="2781173">
                  <a:moveTo>
                    <a:pt x="95250" y="0"/>
                  </a:moveTo>
                  <a:lnTo>
                    <a:pt x="133350" y="0"/>
                  </a:lnTo>
                  <a:lnTo>
                    <a:pt x="133350" y="12700"/>
                  </a:lnTo>
                  <a:lnTo>
                    <a:pt x="95250" y="12700"/>
                  </a:lnTo>
                  <a:close/>
                  <a:moveTo>
                    <a:pt x="184150" y="12700"/>
                  </a:moveTo>
                  <a:lnTo>
                    <a:pt x="222250" y="12700"/>
                  </a:lnTo>
                  <a:lnTo>
                    <a:pt x="184150" y="12700"/>
                  </a:lnTo>
                  <a:close/>
                  <a:moveTo>
                    <a:pt x="273050" y="12700"/>
                  </a:moveTo>
                  <a:lnTo>
                    <a:pt x="311150" y="12700"/>
                  </a:lnTo>
                  <a:lnTo>
                    <a:pt x="273050" y="12700"/>
                  </a:lnTo>
                  <a:close/>
                  <a:moveTo>
                    <a:pt x="361950" y="12700"/>
                  </a:moveTo>
                  <a:lnTo>
                    <a:pt x="400050" y="12700"/>
                  </a:lnTo>
                  <a:lnTo>
                    <a:pt x="361950" y="12700"/>
                  </a:lnTo>
                  <a:close/>
                  <a:moveTo>
                    <a:pt x="450850" y="12700"/>
                  </a:moveTo>
                  <a:lnTo>
                    <a:pt x="488950" y="12700"/>
                  </a:lnTo>
                  <a:lnTo>
                    <a:pt x="450850" y="12700"/>
                  </a:lnTo>
                  <a:close/>
                  <a:moveTo>
                    <a:pt x="539750" y="12700"/>
                  </a:moveTo>
                  <a:lnTo>
                    <a:pt x="577850" y="12700"/>
                  </a:lnTo>
                  <a:lnTo>
                    <a:pt x="539750" y="12700"/>
                  </a:lnTo>
                  <a:close/>
                  <a:moveTo>
                    <a:pt x="628650" y="12700"/>
                  </a:moveTo>
                  <a:lnTo>
                    <a:pt x="666750" y="12700"/>
                  </a:lnTo>
                  <a:lnTo>
                    <a:pt x="628650" y="12700"/>
                  </a:lnTo>
                  <a:close/>
                  <a:moveTo>
                    <a:pt x="717550" y="12700"/>
                  </a:moveTo>
                  <a:lnTo>
                    <a:pt x="755650" y="12700"/>
                  </a:lnTo>
                  <a:lnTo>
                    <a:pt x="717550" y="12700"/>
                  </a:lnTo>
                  <a:close/>
                  <a:moveTo>
                    <a:pt x="806450" y="12700"/>
                  </a:moveTo>
                  <a:lnTo>
                    <a:pt x="844550" y="12700"/>
                  </a:lnTo>
                  <a:lnTo>
                    <a:pt x="806450" y="12700"/>
                  </a:lnTo>
                  <a:close/>
                  <a:moveTo>
                    <a:pt x="895350" y="12700"/>
                  </a:moveTo>
                  <a:lnTo>
                    <a:pt x="933450" y="12700"/>
                  </a:lnTo>
                  <a:lnTo>
                    <a:pt x="895350" y="12700"/>
                  </a:lnTo>
                  <a:close/>
                  <a:moveTo>
                    <a:pt x="984250" y="12700"/>
                  </a:moveTo>
                  <a:lnTo>
                    <a:pt x="1022350" y="12700"/>
                  </a:lnTo>
                  <a:lnTo>
                    <a:pt x="984250" y="12700"/>
                  </a:lnTo>
                  <a:close/>
                  <a:moveTo>
                    <a:pt x="1073150" y="12700"/>
                  </a:moveTo>
                  <a:lnTo>
                    <a:pt x="1111250" y="12700"/>
                  </a:lnTo>
                  <a:lnTo>
                    <a:pt x="1073150" y="12700"/>
                  </a:lnTo>
                  <a:close/>
                  <a:moveTo>
                    <a:pt x="1162050" y="12700"/>
                  </a:moveTo>
                  <a:lnTo>
                    <a:pt x="1200150" y="12700"/>
                  </a:lnTo>
                  <a:lnTo>
                    <a:pt x="1162050" y="12700"/>
                  </a:lnTo>
                  <a:close/>
                  <a:moveTo>
                    <a:pt x="1250950" y="12700"/>
                  </a:moveTo>
                  <a:lnTo>
                    <a:pt x="1289050" y="12700"/>
                  </a:lnTo>
                  <a:lnTo>
                    <a:pt x="1250950" y="12700"/>
                  </a:lnTo>
                  <a:close/>
                  <a:moveTo>
                    <a:pt x="1339850" y="12700"/>
                  </a:moveTo>
                  <a:lnTo>
                    <a:pt x="1377950" y="12700"/>
                  </a:lnTo>
                  <a:lnTo>
                    <a:pt x="1339850" y="12700"/>
                  </a:lnTo>
                  <a:close/>
                  <a:moveTo>
                    <a:pt x="1428750" y="12700"/>
                  </a:moveTo>
                  <a:lnTo>
                    <a:pt x="1466850" y="12700"/>
                  </a:lnTo>
                  <a:lnTo>
                    <a:pt x="1428750" y="12700"/>
                  </a:lnTo>
                  <a:close/>
                  <a:moveTo>
                    <a:pt x="1517650" y="12700"/>
                  </a:moveTo>
                  <a:lnTo>
                    <a:pt x="1555750" y="12700"/>
                  </a:lnTo>
                  <a:lnTo>
                    <a:pt x="1517650" y="12700"/>
                  </a:lnTo>
                  <a:close/>
                  <a:moveTo>
                    <a:pt x="1606550" y="12700"/>
                  </a:moveTo>
                  <a:lnTo>
                    <a:pt x="1644650" y="12700"/>
                  </a:lnTo>
                  <a:lnTo>
                    <a:pt x="1606550" y="12700"/>
                  </a:lnTo>
                  <a:close/>
                  <a:moveTo>
                    <a:pt x="1695450" y="12700"/>
                  </a:moveTo>
                  <a:lnTo>
                    <a:pt x="1733550" y="12700"/>
                  </a:lnTo>
                  <a:lnTo>
                    <a:pt x="1695450" y="12700"/>
                  </a:lnTo>
                  <a:close/>
                  <a:moveTo>
                    <a:pt x="1784350" y="12700"/>
                  </a:moveTo>
                  <a:lnTo>
                    <a:pt x="1822450" y="12700"/>
                  </a:lnTo>
                  <a:lnTo>
                    <a:pt x="1784350" y="12700"/>
                  </a:lnTo>
                  <a:close/>
                  <a:moveTo>
                    <a:pt x="1873250" y="12700"/>
                  </a:moveTo>
                  <a:lnTo>
                    <a:pt x="1911350" y="12700"/>
                  </a:lnTo>
                  <a:lnTo>
                    <a:pt x="1873250" y="12700"/>
                  </a:lnTo>
                  <a:close/>
                  <a:moveTo>
                    <a:pt x="1962150" y="12700"/>
                  </a:moveTo>
                  <a:lnTo>
                    <a:pt x="2000250" y="12700"/>
                  </a:lnTo>
                  <a:lnTo>
                    <a:pt x="1962150" y="12700"/>
                  </a:lnTo>
                  <a:close/>
                  <a:moveTo>
                    <a:pt x="2051050" y="12700"/>
                  </a:moveTo>
                  <a:lnTo>
                    <a:pt x="2089150" y="12700"/>
                  </a:lnTo>
                  <a:lnTo>
                    <a:pt x="2051050" y="12700"/>
                  </a:lnTo>
                  <a:close/>
                  <a:moveTo>
                    <a:pt x="2139950" y="12700"/>
                  </a:moveTo>
                  <a:lnTo>
                    <a:pt x="2178050" y="12700"/>
                  </a:lnTo>
                  <a:lnTo>
                    <a:pt x="2139950" y="12700"/>
                  </a:lnTo>
                  <a:close/>
                  <a:moveTo>
                    <a:pt x="2228850" y="12700"/>
                  </a:moveTo>
                  <a:lnTo>
                    <a:pt x="2266950" y="12700"/>
                  </a:lnTo>
                  <a:lnTo>
                    <a:pt x="2228850" y="12700"/>
                  </a:lnTo>
                  <a:close/>
                  <a:moveTo>
                    <a:pt x="2317750" y="12700"/>
                  </a:moveTo>
                  <a:lnTo>
                    <a:pt x="2355850" y="12700"/>
                  </a:lnTo>
                  <a:lnTo>
                    <a:pt x="2317750" y="12700"/>
                  </a:lnTo>
                  <a:close/>
                  <a:moveTo>
                    <a:pt x="2406650" y="12700"/>
                  </a:moveTo>
                  <a:lnTo>
                    <a:pt x="2444750" y="12700"/>
                  </a:lnTo>
                  <a:lnTo>
                    <a:pt x="2406650" y="12700"/>
                  </a:lnTo>
                  <a:close/>
                  <a:moveTo>
                    <a:pt x="2495550" y="12700"/>
                  </a:moveTo>
                  <a:lnTo>
                    <a:pt x="2533650" y="12700"/>
                  </a:lnTo>
                  <a:lnTo>
                    <a:pt x="2495550" y="12700"/>
                  </a:lnTo>
                  <a:close/>
                  <a:moveTo>
                    <a:pt x="2584450" y="12700"/>
                  </a:moveTo>
                  <a:lnTo>
                    <a:pt x="2622550" y="12700"/>
                  </a:lnTo>
                  <a:lnTo>
                    <a:pt x="2584450" y="12700"/>
                  </a:lnTo>
                  <a:close/>
                  <a:moveTo>
                    <a:pt x="2673350" y="12700"/>
                  </a:moveTo>
                  <a:lnTo>
                    <a:pt x="2711450" y="12700"/>
                  </a:lnTo>
                  <a:lnTo>
                    <a:pt x="2673350" y="12700"/>
                  </a:lnTo>
                  <a:close/>
                  <a:moveTo>
                    <a:pt x="2762250" y="12700"/>
                  </a:moveTo>
                  <a:lnTo>
                    <a:pt x="2774823" y="12700"/>
                  </a:lnTo>
                  <a:cubicBezTo>
                    <a:pt x="2778379" y="12700"/>
                    <a:pt x="2781173" y="15494"/>
                    <a:pt x="2781173" y="19050"/>
                  </a:cubicBezTo>
                  <a:lnTo>
                    <a:pt x="2781173" y="31877"/>
                  </a:lnTo>
                  <a:lnTo>
                    <a:pt x="2768473" y="31877"/>
                  </a:lnTo>
                  <a:lnTo>
                    <a:pt x="2768473" y="6350"/>
                  </a:lnTo>
                  <a:lnTo>
                    <a:pt x="2774823" y="6350"/>
                  </a:lnTo>
                  <a:lnTo>
                    <a:pt x="2774823" y="12700"/>
                  </a:lnTo>
                  <a:lnTo>
                    <a:pt x="2762250" y="12700"/>
                  </a:lnTo>
                  <a:close/>
                  <a:moveTo>
                    <a:pt x="2781173" y="95377"/>
                  </a:moveTo>
                  <a:lnTo>
                    <a:pt x="2781173" y="133477"/>
                  </a:lnTo>
                  <a:lnTo>
                    <a:pt x="2768473" y="133477"/>
                  </a:lnTo>
                  <a:lnTo>
                    <a:pt x="2768473" y="95377"/>
                  </a:lnTo>
                  <a:close/>
                  <a:moveTo>
                    <a:pt x="2768473" y="184277"/>
                  </a:moveTo>
                  <a:lnTo>
                    <a:pt x="2768473" y="222377"/>
                  </a:lnTo>
                  <a:lnTo>
                    <a:pt x="2755773" y="222377"/>
                  </a:lnTo>
                  <a:lnTo>
                    <a:pt x="2755773" y="184277"/>
                  </a:lnTo>
                  <a:close/>
                  <a:moveTo>
                    <a:pt x="2755773" y="273177"/>
                  </a:moveTo>
                  <a:lnTo>
                    <a:pt x="2755773" y="311277"/>
                  </a:lnTo>
                  <a:lnTo>
                    <a:pt x="2743073" y="311277"/>
                  </a:lnTo>
                  <a:lnTo>
                    <a:pt x="2743073" y="273177"/>
                  </a:lnTo>
                  <a:close/>
                  <a:moveTo>
                    <a:pt x="2743073" y="362077"/>
                  </a:moveTo>
                  <a:lnTo>
                    <a:pt x="2743073" y="400177"/>
                  </a:lnTo>
                  <a:lnTo>
                    <a:pt x="2730373" y="400177"/>
                  </a:lnTo>
                  <a:lnTo>
                    <a:pt x="2730373" y="362077"/>
                  </a:lnTo>
                  <a:close/>
                  <a:moveTo>
                    <a:pt x="2730373" y="450977"/>
                  </a:moveTo>
                  <a:lnTo>
                    <a:pt x="2730373" y="489077"/>
                  </a:lnTo>
                  <a:lnTo>
                    <a:pt x="2717673" y="489077"/>
                  </a:lnTo>
                  <a:lnTo>
                    <a:pt x="2717673" y="450977"/>
                  </a:lnTo>
                  <a:close/>
                  <a:moveTo>
                    <a:pt x="2717673" y="539877"/>
                  </a:moveTo>
                  <a:lnTo>
                    <a:pt x="2717673" y="577977"/>
                  </a:lnTo>
                  <a:lnTo>
                    <a:pt x="2704973" y="577977"/>
                  </a:lnTo>
                  <a:lnTo>
                    <a:pt x="2704973" y="539877"/>
                  </a:lnTo>
                  <a:close/>
                  <a:moveTo>
                    <a:pt x="2704973" y="628777"/>
                  </a:moveTo>
                  <a:lnTo>
                    <a:pt x="2704973" y="666877"/>
                  </a:lnTo>
                  <a:lnTo>
                    <a:pt x="2692273" y="666877"/>
                  </a:lnTo>
                  <a:lnTo>
                    <a:pt x="2692273" y="628777"/>
                  </a:lnTo>
                  <a:close/>
                  <a:moveTo>
                    <a:pt x="2692273" y="717677"/>
                  </a:moveTo>
                  <a:lnTo>
                    <a:pt x="2692273" y="755777"/>
                  </a:lnTo>
                  <a:lnTo>
                    <a:pt x="2679573" y="755777"/>
                  </a:lnTo>
                  <a:lnTo>
                    <a:pt x="2679573" y="717677"/>
                  </a:lnTo>
                  <a:close/>
                  <a:moveTo>
                    <a:pt x="2679573" y="806577"/>
                  </a:moveTo>
                  <a:lnTo>
                    <a:pt x="2679573" y="844677"/>
                  </a:lnTo>
                  <a:lnTo>
                    <a:pt x="2666873" y="844677"/>
                  </a:lnTo>
                  <a:lnTo>
                    <a:pt x="2666873" y="806577"/>
                  </a:lnTo>
                  <a:close/>
                  <a:moveTo>
                    <a:pt x="2666873" y="895477"/>
                  </a:moveTo>
                  <a:lnTo>
                    <a:pt x="2666873" y="933577"/>
                  </a:lnTo>
                  <a:lnTo>
                    <a:pt x="2654173" y="933577"/>
                  </a:lnTo>
                  <a:lnTo>
                    <a:pt x="2654173" y="895477"/>
                  </a:lnTo>
                  <a:close/>
                  <a:moveTo>
                    <a:pt x="2654173" y="984377"/>
                  </a:moveTo>
                  <a:lnTo>
                    <a:pt x="2654173" y="1022477"/>
                  </a:lnTo>
                  <a:lnTo>
                    <a:pt x="2641473" y="1022477"/>
                  </a:lnTo>
                  <a:lnTo>
                    <a:pt x="2641473" y="984377"/>
                  </a:lnTo>
                  <a:close/>
                  <a:moveTo>
                    <a:pt x="2641473" y="1073277"/>
                  </a:moveTo>
                  <a:lnTo>
                    <a:pt x="2641473" y="1111377"/>
                  </a:lnTo>
                  <a:lnTo>
                    <a:pt x="2628773" y="1111377"/>
                  </a:lnTo>
                  <a:lnTo>
                    <a:pt x="2628773" y="1073277"/>
                  </a:lnTo>
                  <a:close/>
                  <a:moveTo>
                    <a:pt x="2628773" y="1162177"/>
                  </a:moveTo>
                  <a:lnTo>
                    <a:pt x="2628773" y="1200277"/>
                  </a:lnTo>
                  <a:lnTo>
                    <a:pt x="2616073" y="1200277"/>
                  </a:lnTo>
                  <a:lnTo>
                    <a:pt x="2616073" y="1162177"/>
                  </a:lnTo>
                  <a:close/>
                  <a:moveTo>
                    <a:pt x="2616073" y="1251077"/>
                  </a:moveTo>
                  <a:lnTo>
                    <a:pt x="2616073" y="1289177"/>
                  </a:lnTo>
                  <a:lnTo>
                    <a:pt x="2603373" y="1289177"/>
                  </a:lnTo>
                  <a:lnTo>
                    <a:pt x="2603373" y="1251077"/>
                  </a:lnTo>
                  <a:close/>
                  <a:moveTo>
                    <a:pt x="2603373" y="1339977"/>
                  </a:moveTo>
                  <a:lnTo>
                    <a:pt x="2603373" y="1378077"/>
                  </a:lnTo>
                  <a:lnTo>
                    <a:pt x="2590673" y="1378077"/>
                  </a:lnTo>
                  <a:lnTo>
                    <a:pt x="2590673" y="1339977"/>
                  </a:lnTo>
                  <a:close/>
                  <a:moveTo>
                    <a:pt x="2590673" y="1428877"/>
                  </a:moveTo>
                  <a:lnTo>
                    <a:pt x="2590673" y="1466977"/>
                  </a:lnTo>
                  <a:lnTo>
                    <a:pt x="2577973" y="1466977"/>
                  </a:lnTo>
                  <a:lnTo>
                    <a:pt x="2577973" y="1428877"/>
                  </a:lnTo>
                  <a:close/>
                  <a:moveTo>
                    <a:pt x="2577973" y="1517777"/>
                  </a:moveTo>
                  <a:lnTo>
                    <a:pt x="2577973" y="1555877"/>
                  </a:lnTo>
                  <a:lnTo>
                    <a:pt x="2565273" y="1555877"/>
                  </a:lnTo>
                  <a:lnTo>
                    <a:pt x="2565273" y="1517777"/>
                  </a:lnTo>
                  <a:close/>
                  <a:moveTo>
                    <a:pt x="2565273" y="1606677"/>
                  </a:moveTo>
                  <a:lnTo>
                    <a:pt x="2565273" y="1644777"/>
                  </a:lnTo>
                  <a:lnTo>
                    <a:pt x="2552573" y="1644777"/>
                  </a:lnTo>
                  <a:lnTo>
                    <a:pt x="2552573" y="1606677"/>
                  </a:lnTo>
                  <a:close/>
                  <a:moveTo>
                    <a:pt x="2552573" y="1695577"/>
                  </a:moveTo>
                  <a:lnTo>
                    <a:pt x="2552573" y="1733677"/>
                  </a:lnTo>
                  <a:lnTo>
                    <a:pt x="2539873" y="1733677"/>
                  </a:lnTo>
                  <a:lnTo>
                    <a:pt x="2539873" y="1695577"/>
                  </a:lnTo>
                  <a:close/>
                  <a:moveTo>
                    <a:pt x="2539873" y="1784477"/>
                  </a:moveTo>
                  <a:lnTo>
                    <a:pt x="2539873" y="1822577"/>
                  </a:lnTo>
                  <a:lnTo>
                    <a:pt x="2527173" y="1822577"/>
                  </a:lnTo>
                  <a:lnTo>
                    <a:pt x="2527173" y="1784477"/>
                  </a:lnTo>
                  <a:close/>
                  <a:moveTo>
                    <a:pt x="2527173" y="1873377"/>
                  </a:moveTo>
                  <a:lnTo>
                    <a:pt x="2527173" y="1911477"/>
                  </a:lnTo>
                  <a:lnTo>
                    <a:pt x="2514473" y="1911477"/>
                  </a:lnTo>
                  <a:lnTo>
                    <a:pt x="2514473" y="1873377"/>
                  </a:lnTo>
                  <a:close/>
                  <a:moveTo>
                    <a:pt x="2514473" y="1962277"/>
                  </a:moveTo>
                  <a:lnTo>
                    <a:pt x="2514473" y="2000377"/>
                  </a:lnTo>
                  <a:lnTo>
                    <a:pt x="2501773" y="2000377"/>
                  </a:lnTo>
                  <a:lnTo>
                    <a:pt x="2501773" y="1962277"/>
                  </a:lnTo>
                  <a:close/>
                  <a:moveTo>
                    <a:pt x="2501773" y="2051177"/>
                  </a:moveTo>
                  <a:lnTo>
                    <a:pt x="2501773" y="2089277"/>
                  </a:lnTo>
                  <a:lnTo>
                    <a:pt x="2489073" y="2089277"/>
                  </a:lnTo>
                  <a:lnTo>
                    <a:pt x="2489073" y="2051177"/>
                  </a:lnTo>
                  <a:close/>
                  <a:moveTo>
                    <a:pt x="2489073" y="2140077"/>
                  </a:moveTo>
                  <a:lnTo>
                    <a:pt x="2489073" y="2178177"/>
                  </a:lnTo>
                  <a:lnTo>
                    <a:pt x="2476373" y="2178177"/>
                  </a:lnTo>
                  <a:lnTo>
                    <a:pt x="2476373" y="2140077"/>
                  </a:lnTo>
                  <a:close/>
                  <a:moveTo>
                    <a:pt x="2476373" y="2228977"/>
                  </a:moveTo>
                  <a:lnTo>
                    <a:pt x="2476373" y="2267077"/>
                  </a:lnTo>
                  <a:lnTo>
                    <a:pt x="2463673" y="2267077"/>
                  </a:lnTo>
                  <a:lnTo>
                    <a:pt x="2463673" y="2228977"/>
                  </a:lnTo>
                  <a:close/>
                  <a:moveTo>
                    <a:pt x="2463673" y="2317877"/>
                  </a:moveTo>
                  <a:lnTo>
                    <a:pt x="2463673" y="2355977"/>
                  </a:lnTo>
                  <a:lnTo>
                    <a:pt x="2450973" y="2355977"/>
                  </a:lnTo>
                  <a:lnTo>
                    <a:pt x="2450973" y="2317877"/>
                  </a:lnTo>
                  <a:close/>
                  <a:moveTo>
                    <a:pt x="2450973" y="2406777"/>
                  </a:moveTo>
                  <a:lnTo>
                    <a:pt x="2450973" y="2444877"/>
                  </a:lnTo>
                  <a:lnTo>
                    <a:pt x="2438273" y="2444877"/>
                  </a:lnTo>
                  <a:lnTo>
                    <a:pt x="2438273" y="2406777"/>
                  </a:lnTo>
                  <a:close/>
                  <a:moveTo>
                    <a:pt x="2438273" y="2495677"/>
                  </a:moveTo>
                  <a:lnTo>
                    <a:pt x="2438273" y="2533777"/>
                  </a:lnTo>
                  <a:lnTo>
                    <a:pt x="2425573" y="2533777"/>
                  </a:lnTo>
                  <a:lnTo>
                    <a:pt x="2425573" y="2495677"/>
                  </a:lnTo>
                  <a:close/>
                  <a:moveTo>
                    <a:pt x="2425573" y="2584577"/>
                  </a:moveTo>
                  <a:lnTo>
                    <a:pt x="2425573" y="2622677"/>
                  </a:lnTo>
                  <a:lnTo>
                    <a:pt x="2412873" y="2622677"/>
                  </a:lnTo>
                  <a:lnTo>
                    <a:pt x="2412873" y="2584577"/>
                  </a:lnTo>
                  <a:close/>
                  <a:moveTo>
                    <a:pt x="2412873" y="2673477"/>
                  </a:moveTo>
                  <a:lnTo>
                    <a:pt x="2412873" y="2711577"/>
                  </a:lnTo>
                  <a:lnTo>
                    <a:pt x="2400173" y="2711577"/>
                  </a:lnTo>
                  <a:lnTo>
                    <a:pt x="2400173" y="2673477"/>
                  </a:lnTo>
                  <a:close/>
                  <a:moveTo>
                    <a:pt x="2400173" y="2762377"/>
                  </a:moveTo>
                  <a:lnTo>
                    <a:pt x="2400173" y="2800477"/>
                  </a:lnTo>
                  <a:lnTo>
                    <a:pt x="2387473" y="2800477"/>
                  </a:lnTo>
                  <a:lnTo>
                    <a:pt x="2387473" y="2762377"/>
                  </a:lnTo>
                  <a:close/>
                  <a:moveTo>
                    <a:pt x="2387473" y="2851277"/>
                  </a:moveTo>
                  <a:lnTo>
                    <a:pt x="2387473" y="2889377"/>
                  </a:lnTo>
                  <a:lnTo>
                    <a:pt x="2374773" y="2889377"/>
                  </a:lnTo>
                  <a:lnTo>
                    <a:pt x="2374773" y="2851277"/>
                  </a:lnTo>
                  <a:close/>
                  <a:moveTo>
                    <a:pt x="2374773" y="2940177"/>
                  </a:moveTo>
                  <a:lnTo>
                    <a:pt x="2374773" y="2978277"/>
                  </a:lnTo>
                  <a:lnTo>
                    <a:pt x="2362073" y="2978277"/>
                  </a:lnTo>
                  <a:lnTo>
                    <a:pt x="2362073" y="2940177"/>
                  </a:lnTo>
                  <a:close/>
                  <a:moveTo>
                    <a:pt x="2362073" y="3029077"/>
                  </a:moveTo>
                  <a:lnTo>
                    <a:pt x="2362073" y="3067177"/>
                  </a:lnTo>
                  <a:lnTo>
                    <a:pt x="2349373" y="3067177"/>
                  </a:lnTo>
                  <a:lnTo>
                    <a:pt x="2349373" y="3029077"/>
                  </a:lnTo>
                  <a:close/>
                  <a:moveTo>
                    <a:pt x="2349373" y="3117977"/>
                  </a:moveTo>
                  <a:lnTo>
                    <a:pt x="2349373" y="3156077"/>
                  </a:lnTo>
                  <a:lnTo>
                    <a:pt x="2336673" y="3156077"/>
                  </a:lnTo>
                  <a:lnTo>
                    <a:pt x="2336673" y="3117977"/>
                  </a:lnTo>
                  <a:close/>
                  <a:moveTo>
                    <a:pt x="2336673" y="3206877"/>
                  </a:moveTo>
                  <a:lnTo>
                    <a:pt x="2336673" y="3244977"/>
                  </a:lnTo>
                  <a:lnTo>
                    <a:pt x="2323973" y="3244977"/>
                  </a:lnTo>
                  <a:lnTo>
                    <a:pt x="2323973" y="3206877"/>
                  </a:lnTo>
                  <a:close/>
                  <a:moveTo>
                    <a:pt x="2323973" y="3295777"/>
                  </a:moveTo>
                  <a:lnTo>
                    <a:pt x="2323973" y="3333877"/>
                  </a:lnTo>
                  <a:lnTo>
                    <a:pt x="2311273" y="3333877"/>
                  </a:lnTo>
                  <a:lnTo>
                    <a:pt x="2311273" y="3295777"/>
                  </a:lnTo>
                  <a:close/>
                  <a:moveTo>
                    <a:pt x="2311273" y="3384677"/>
                  </a:moveTo>
                  <a:lnTo>
                    <a:pt x="2311273" y="3422777"/>
                  </a:lnTo>
                  <a:lnTo>
                    <a:pt x="2298573" y="3422777"/>
                  </a:lnTo>
                  <a:lnTo>
                    <a:pt x="2298573" y="3384677"/>
                  </a:lnTo>
                  <a:close/>
                  <a:moveTo>
                    <a:pt x="2298573" y="3473577"/>
                  </a:moveTo>
                  <a:lnTo>
                    <a:pt x="2298573" y="3511677"/>
                  </a:lnTo>
                  <a:lnTo>
                    <a:pt x="2285873" y="3511677"/>
                  </a:lnTo>
                  <a:lnTo>
                    <a:pt x="2285873" y="3473577"/>
                  </a:lnTo>
                  <a:close/>
                  <a:moveTo>
                    <a:pt x="2285873" y="3562477"/>
                  </a:moveTo>
                  <a:lnTo>
                    <a:pt x="2285873" y="3600577"/>
                  </a:lnTo>
                  <a:lnTo>
                    <a:pt x="2273173" y="3600577"/>
                  </a:lnTo>
                  <a:lnTo>
                    <a:pt x="2273173" y="3562477"/>
                  </a:lnTo>
                  <a:close/>
                  <a:moveTo>
                    <a:pt x="2273173" y="3651377"/>
                  </a:moveTo>
                  <a:lnTo>
                    <a:pt x="2273173" y="3689477"/>
                  </a:lnTo>
                  <a:lnTo>
                    <a:pt x="2260473" y="3689477"/>
                  </a:lnTo>
                  <a:lnTo>
                    <a:pt x="2260473" y="3651377"/>
                  </a:lnTo>
                  <a:close/>
                  <a:moveTo>
                    <a:pt x="2260473" y="3740277"/>
                  </a:moveTo>
                  <a:lnTo>
                    <a:pt x="2260473" y="3778377"/>
                  </a:lnTo>
                  <a:lnTo>
                    <a:pt x="2247773" y="3778377"/>
                  </a:lnTo>
                  <a:lnTo>
                    <a:pt x="2247773" y="3740277"/>
                  </a:lnTo>
                  <a:close/>
                  <a:moveTo>
                    <a:pt x="2247773" y="3829177"/>
                  </a:moveTo>
                  <a:lnTo>
                    <a:pt x="2247773" y="3867277"/>
                  </a:lnTo>
                  <a:lnTo>
                    <a:pt x="2235073" y="3867277"/>
                  </a:lnTo>
                  <a:lnTo>
                    <a:pt x="2235073" y="3829177"/>
                  </a:lnTo>
                  <a:close/>
                  <a:moveTo>
                    <a:pt x="2235073" y="3918077"/>
                  </a:moveTo>
                  <a:lnTo>
                    <a:pt x="2235073" y="3956177"/>
                  </a:lnTo>
                  <a:lnTo>
                    <a:pt x="2222373" y="3956177"/>
                  </a:lnTo>
                  <a:lnTo>
                    <a:pt x="2222373" y="3918077"/>
                  </a:lnTo>
                  <a:close/>
                  <a:moveTo>
                    <a:pt x="2222373" y="4006977"/>
                  </a:moveTo>
                  <a:lnTo>
                    <a:pt x="2222373" y="4045077"/>
                  </a:lnTo>
                  <a:lnTo>
                    <a:pt x="2209673" y="4045077"/>
                  </a:lnTo>
                  <a:lnTo>
                    <a:pt x="2209673" y="4006977"/>
                  </a:lnTo>
                  <a:close/>
                  <a:moveTo>
                    <a:pt x="2209673" y="4095877"/>
                  </a:moveTo>
                  <a:lnTo>
                    <a:pt x="2209673" y="4133977"/>
                  </a:lnTo>
                  <a:lnTo>
                    <a:pt x="2196973" y="4133977"/>
                  </a:lnTo>
                  <a:lnTo>
                    <a:pt x="2196973" y="4095877"/>
                  </a:lnTo>
                  <a:close/>
                  <a:moveTo>
                    <a:pt x="2196973" y="4184777"/>
                  </a:moveTo>
                  <a:lnTo>
                    <a:pt x="2196973" y="4222877"/>
                  </a:lnTo>
                  <a:lnTo>
                    <a:pt x="2184273" y="4222877"/>
                  </a:lnTo>
                  <a:lnTo>
                    <a:pt x="2184273" y="4184777"/>
                  </a:lnTo>
                  <a:close/>
                  <a:moveTo>
                    <a:pt x="2184273" y="4273677"/>
                  </a:moveTo>
                  <a:lnTo>
                    <a:pt x="2184273" y="4311777"/>
                  </a:lnTo>
                  <a:lnTo>
                    <a:pt x="2171573" y="4311777"/>
                  </a:lnTo>
                  <a:lnTo>
                    <a:pt x="2171573" y="4273677"/>
                  </a:lnTo>
                  <a:close/>
                  <a:moveTo>
                    <a:pt x="2171573" y="4362577"/>
                  </a:moveTo>
                  <a:lnTo>
                    <a:pt x="2171573" y="4400677"/>
                  </a:lnTo>
                  <a:lnTo>
                    <a:pt x="2158873" y="4400677"/>
                  </a:lnTo>
                  <a:lnTo>
                    <a:pt x="2158873" y="4362577"/>
                  </a:lnTo>
                  <a:close/>
                  <a:moveTo>
                    <a:pt x="2158873" y="4451477"/>
                  </a:moveTo>
                  <a:lnTo>
                    <a:pt x="2158873" y="4489577"/>
                  </a:lnTo>
                  <a:lnTo>
                    <a:pt x="2146173" y="4489577"/>
                  </a:lnTo>
                  <a:lnTo>
                    <a:pt x="2146173" y="4451477"/>
                  </a:lnTo>
                  <a:close/>
                  <a:moveTo>
                    <a:pt x="2146173" y="4540377"/>
                  </a:moveTo>
                  <a:lnTo>
                    <a:pt x="2146173" y="4578477"/>
                  </a:lnTo>
                  <a:lnTo>
                    <a:pt x="2133473" y="4578477"/>
                  </a:lnTo>
                  <a:lnTo>
                    <a:pt x="2133473" y="4540377"/>
                  </a:lnTo>
                  <a:close/>
                  <a:moveTo>
                    <a:pt x="2133473" y="4629277"/>
                  </a:moveTo>
                  <a:lnTo>
                    <a:pt x="2133473" y="4667377"/>
                  </a:lnTo>
                  <a:lnTo>
                    <a:pt x="2120773" y="4667377"/>
                  </a:lnTo>
                  <a:lnTo>
                    <a:pt x="2120773" y="4629277"/>
                  </a:lnTo>
                  <a:close/>
                  <a:moveTo>
                    <a:pt x="2120773" y="4718177"/>
                  </a:moveTo>
                  <a:lnTo>
                    <a:pt x="2120773" y="4756277"/>
                  </a:lnTo>
                  <a:lnTo>
                    <a:pt x="2108073" y="4756277"/>
                  </a:lnTo>
                  <a:lnTo>
                    <a:pt x="2108073" y="4718177"/>
                  </a:lnTo>
                  <a:close/>
                  <a:moveTo>
                    <a:pt x="2108073" y="4807077"/>
                  </a:moveTo>
                  <a:lnTo>
                    <a:pt x="2108073" y="4845177"/>
                  </a:lnTo>
                  <a:lnTo>
                    <a:pt x="2095373" y="4845177"/>
                  </a:lnTo>
                  <a:lnTo>
                    <a:pt x="2095373" y="4807077"/>
                  </a:lnTo>
                  <a:close/>
                  <a:moveTo>
                    <a:pt x="2095373" y="4895977"/>
                  </a:moveTo>
                  <a:lnTo>
                    <a:pt x="2095373" y="4934077"/>
                  </a:lnTo>
                  <a:lnTo>
                    <a:pt x="2082673" y="4934077"/>
                  </a:lnTo>
                  <a:lnTo>
                    <a:pt x="2082673" y="4895977"/>
                  </a:lnTo>
                  <a:close/>
                  <a:moveTo>
                    <a:pt x="2082673" y="4984877"/>
                  </a:moveTo>
                  <a:lnTo>
                    <a:pt x="2082673" y="5022977"/>
                  </a:lnTo>
                  <a:lnTo>
                    <a:pt x="2069973" y="5022977"/>
                  </a:lnTo>
                  <a:lnTo>
                    <a:pt x="2069973" y="4984877"/>
                  </a:lnTo>
                  <a:close/>
                  <a:moveTo>
                    <a:pt x="2069973" y="5073777"/>
                  </a:moveTo>
                  <a:lnTo>
                    <a:pt x="2069973" y="5111877"/>
                  </a:lnTo>
                  <a:lnTo>
                    <a:pt x="2057273" y="5111877"/>
                  </a:lnTo>
                  <a:lnTo>
                    <a:pt x="2057273" y="5073777"/>
                  </a:lnTo>
                  <a:close/>
                  <a:moveTo>
                    <a:pt x="2057273" y="5162677"/>
                  </a:moveTo>
                  <a:lnTo>
                    <a:pt x="2057273" y="5200777"/>
                  </a:lnTo>
                  <a:lnTo>
                    <a:pt x="2044573" y="5200777"/>
                  </a:lnTo>
                  <a:lnTo>
                    <a:pt x="2044573" y="5162677"/>
                  </a:lnTo>
                  <a:close/>
                  <a:moveTo>
                    <a:pt x="2044573" y="5251577"/>
                  </a:moveTo>
                  <a:lnTo>
                    <a:pt x="2044573" y="5289677"/>
                  </a:lnTo>
                  <a:lnTo>
                    <a:pt x="2031873" y="5289677"/>
                  </a:lnTo>
                  <a:lnTo>
                    <a:pt x="2031873" y="5251577"/>
                  </a:lnTo>
                  <a:close/>
                  <a:moveTo>
                    <a:pt x="2031873" y="5340477"/>
                  </a:moveTo>
                  <a:lnTo>
                    <a:pt x="2031873" y="5378577"/>
                  </a:lnTo>
                  <a:lnTo>
                    <a:pt x="2019173" y="5378577"/>
                  </a:lnTo>
                  <a:lnTo>
                    <a:pt x="2019173" y="5340477"/>
                  </a:lnTo>
                  <a:close/>
                  <a:moveTo>
                    <a:pt x="2019173" y="5429377"/>
                  </a:moveTo>
                  <a:lnTo>
                    <a:pt x="2019173" y="5467477"/>
                  </a:lnTo>
                  <a:lnTo>
                    <a:pt x="2006473" y="5467477"/>
                  </a:lnTo>
                  <a:lnTo>
                    <a:pt x="2006473" y="5429377"/>
                  </a:lnTo>
                  <a:close/>
                  <a:moveTo>
                    <a:pt x="2006473" y="5518277"/>
                  </a:moveTo>
                  <a:lnTo>
                    <a:pt x="2006473" y="5556250"/>
                  </a:lnTo>
                  <a:cubicBezTo>
                    <a:pt x="2006473" y="5559806"/>
                    <a:pt x="2003679" y="5562600"/>
                    <a:pt x="2000123" y="5562600"/>
                  </a:cubicBezTo>
                  <a:lnTo>
                    <a:pt x="1999996" y="5562600"/>
                  </a:lnTo>
                  <a:lnTo>
                    <a:pt x="1999996" y="5549900"/>
                  </a:lnTo>
                  <a:lnTo>
                    <a:pt x="2000123" y="5549900"/>
                  </a:lnTo>
                  <a:lnTo>
                    <a:pt x="2000123" y="5556250"/>
                  </a:lnTo>
                  <a:lnTo>
                    <a:pt x="1993773" y="5556250"/>
                  </a:lnTo>
                  <a:lnTo>
                    <a:pt x="1993773" y="5518277"/>
                  </a:lnTo>
                  <a:close/>
                  <a:moveTo>
                    <a:pt x="2723896" y="5549900"/>
                  </a:moveTo>
                  <a:lnTo>
                    <a:pt x="2685796" y="5549900"/>
                  </a:lnTo>
                  <a:lnTo>
                    <a:pt x="2685796" y="5537200"/>
                  </a:lnTo>
                  <a:lnTo>
                    <a:pt x="2723896" y="5537200"/>
                  </a:lnTo>
                  <a:close/>
                  <a:moveTo>
                    <a:pt x="2634996" y="5537200"/>
                  </a:moveTo>
                  <a:lnTo>
                    <a:pt x="2596896" y="5537200"/>
                  </a:lnTo>
                  <a:lnTo>
                    <a:pt x="2596896" y="5524500"/>
                  </a:lnTo>
                  <a:lnTo>
                    <a:pt x="2634996" y="5524500"/>
                  </a:lnTo>
                  <a:close/>
                  <a:moveTo>
                    <a:pt x="2546096" y="5524500"/>
                  </a:moveTo>
                  <a:lnTo>
                    <a:pt x="2507996" y="5524500"/>
                  </a:lnTo>
                  <a:lnTo>
                    <a:pt x="2507996" y="5511800"/>
                  </a:lnTo>
                  <a:lnTo>
                    <a:pt x="2546096" y="5511800"/>
                  </a:lnTo>
                  <a:close/>
                  <a:moveTo>
                    <a:pt x="2457196" y="5511800"/>
                  </a:moveTo>
                  <a:lnTo>
                    <a:pt x="2419096" y="5511800"/>
                  </a:lnTo>
                  <a:lnTo>
                    <a:pt x="2419096" y="5499100"/>
                  </a:lnTo>
                  <a:lnTo>
                    <a:pt x="2457196" y="5499100"/>
                  </a:lnTo>
                  <a:close/>
                  <a:moveTo>
                    <a:pt x="2368296" y="5499100"/>
                  </a:moveTo>
                  <a:lnTo>
                    <a:pt x="2330196" y="5499100"/>
                  </a:lnTo>
                  <a:lnTo>
                    <a:pt x="2330196" y="5486400"/>
                  </a:lnTo>
                  <a:lnTo>
                    <a:pt x="2368296" y="5486400"/>
                  </a:lnTo>
                  <a:close/>
                  <a:moveTo>
                    <a:pt x="2279396" y="5486400"/>
                  </a:moveTo>
                  <a:lnTo>
                    <a:pt x="2241296" y="5486400"/>
                  </a:lnTo>
                  <a:lnTo>
                    <a:pt x="2241296" y="5473700"/>
                  </a:lnTo>
                  <a:lnTo>
                    <a:pt x="2279396" y="5473700"/>
                  </a:lnTo>
                  <a:close/>
                  <a:moveTo>
                    <a:pt x="2190496" y="5473700"/>
                  </a:moveTo>
                  <a:lnTo>
                    <a:pt x="2152396" y="5473700"/>
                  </a:lnTo>
                  <a:lnTo>
                    <a:pt x="2152396" y="5461000"/>
                  </a:lnTo>
                  <a:lnTo>
                    <a:pt x="2190496" y="5461000"/>
                  </a:lnTo>
                  <a:close/>
                  <a:moveTo>
                    <a:pt x="2101596" y="5461000"/>
                  </a:moveTo>
                  <a:lnTo>
                    <a:pt x="2063496" y="5461000"/>
                  </a:lnTo>
                  <a:lnTo>
                    <a:pt x="2063496" y="5448300"/>
                  </a:lnTo>
                  <a:lnTo>
                    <a:pt x="2101596" y="5448300"/>
                  </a:lnTo>
                  <a:close/>
                  <a:moveTo>
                    <a:pt x="2012696" y="5448300"/>
                  </a:moveTo>
                  <a:lnTo>
                    <a:pt x="1974596" y="5448300"/>
                  </a:lnTo>
                  <a:lnTo>
                    <a:pt x="1974596" y="5435600"/>
                  </a:lnTo>
                  <a:lnTo>
                    <a:pt x="2012696" y="5435600"/>
                  </a:lnTo>
                  <a:close/>
                  <a:moveTo>
                    <a:pt x="1923796" y="5435600"/>
                  </a:moveTo>
                  <a:lnTo>
                    <a:pt x="1885696" y="5435600"/>
                  </a:lnTo>
                  <a:lnTo>
                    <a:pt x="1885696" y="5422900"/>
                  </a:lnTo>
                  <a:lnTo>
                    <a:pt x="1923796" y="5422900"/>
                  </a:lnTo>
                  <a:close/>
                  <a:moveTo>
                    <a:pt x="1834896" y="5422900"/>
                  </a:moveTo>
                  <a:lnTo>
                    <a:pt x="1796796" y="5422900"/>
                  </a:lnTo>
                  <a:lnTo>
                    <a:pt x="1796796" y="5410200"/>
                  </a:lnTo>
                  <a:lnTo>
                    <a:pt x="1834896" y="5410200"/>
                  </a:lnTo>
                  <a:close/>
                  <a:moveTo>
                    <a:pt x="1745996" y="5410200"/>
                  </a:moveTo>
                  <a:lnTo>
                    <a:pt x="1707896" y="5410200"/>
                  </a:lnTo>
                  <a:lnTo>
                    <a:pt x="1707896" y="5397500"/>
                  </a:lnTo>
                  <a:lnTo>
                    <a:pt x="1745996" y="5397500"/>
                  </a:lnTo>
                  <a:close/>
                  <a:moveTo>
                    <a:pt x="1657096" y="5397500"/>
                  </a:moveTo>
                  <a:lnTo>
                    <a:pt x="1618996" y="5397500"/>
                  </a:lnTo>
                  <a:lnTo>
                    <a:pt x="1618996" y="5384800"/>
                  </a:lnTo>
                  <a:lnTo>
                    <a:pt x="1657096" y="5384800"/>
                  </a:lnTo>
                  <a:close/>
                  <a:moveTo>
                    <a:pt x="1568196" y="5384800"/>
                  </a:moveTo>
                  <a:lnTo>
                    <a:pt x="1530096" y="5384800"/>
                  </a:lnTo>
                  <a:lnTo>
                    <a:pt x="1530096" y="5372100"/>
                  </a:lnTo>
                  <a:lnTo>
                    <a:pt x="1568196" y="5372100"/>
                  </a:lnTo>
                  <a:close/>
                  <a:moveTo>
                    <a:pt x="1479296" y="5372100"/>
                  </a:moveTo>
                  <a:lnTo>
                    <a:pt x="1441196" y="5372100"/>
                  </a:lnTo>
                  <a:lnTo>
                    <a:pt x="1441196" y="5359400"/>
                  </a:lnTo>
                  <a:lnTo>
                    <a:pt x="1479296" y="5359400"/>
                  </a:lnTo>
                  <a:close/>
                  <a:moveTo>
                    <a:pt x="1390396" y="5359400"/>
                  </a:moveTo>
                  <a:lnTo>
                    <a:pt x="1352296" y="5359400"/>
                  </a:lnTo>
                  <a:lnTo>
                    <a:pt x="1352296" y="5346700"/>
                  </a:lnTo>
                  <a:lnTo>
                    <a:pt x="1390396" y="5346700"/>
                  </a:lnTo>
                  <a:close/>
                  <a:moveTo>
                    <a:pt x="1301496" y="5346700"/>
                  </a:moveTo>
                  <a:lnTo>
                    <a:pt x="1263396" y="5346700"/>
                  </a:lnTo>
                  <a:lnTo>
                    <a:pt x="1263396" y="5334000"/>
                  </a:lnTo>
                  <a:lnTo>
                    <a:pt x="1301496" y="5334000"/>
                  </a:lnTo>
                  <a:close/>
                  <a:moveTo>
                    <a:pt x="1212596" y="5334000"/>
                  </a:moveTo>
                  <a:lnTo>
                    <a:pt x="1174496" y="5334000"/>
                  </a:lnTo>
                  <a:lnTo>
                    <a:pt x="1174496" y="5321300"/>
                  </a:lnTo>
                  <a:lnTo>
                    <a:pt x="1212596" y="5321300"/>
                  </a:lnTo>
                  <a:close/>
                  <a:moveTo>
                    <a:pt x="1123696" y="5321300"/>
                  </a:moveTo>
                  <a:lnTo>
                    <a:pt x="1085596" y="5321300"/>
                  </a:lnTo>
                  <a:lnTo>
                    <a:pt x="1085596" y="5308600"/>
                  </a:lnTo>
                  <a:lnTo>
                    <a:pt x="1123696" y="5308600"/>
                  </a:lnTo>
                  <a:close/>
                  <a:moveTo>
                    <a:pt x="1034796" y="5308600"/>
                  </a:moveTo>
                  <a:lnTo>
                    <a:pt x="996696" y="5308600"/>
                  </a:lnTo>
                  <a:lnTo>
                    <a:pt x="996696" y="5295900"/>
                  </a:lnTo>
                  <a:lnTo>
                    <a:pt x="1034796" y="5295900"/>
                  </a:lnTo>
                  <a:close/>
                  <a:moveTo>
                    <a:pt x="945896" y="5295900"/>
                  </a:moveTo>
                  <a:lnTo>
                    <a:pt x="907796" y="5295900"/>
                  </a:lnTo>
                  <a:lnTo>
                    <a:pt x="907796" y="5283200"/>
                  </a:lnTo>
                  <a:lnTo>
                    <a:pt x="945896" y="5283200"/>
                  </a:lnTo>
                  <a:close/>
                  <a:moveTo>
                    <a:pt x="856996" y="5283200"/>
                  </a:moveTo>
                  <a:lnTo>
                    <a:pt x="818896" y="5283200"/>
                  </a:lnTo>
                  <a:lnTo>
                    <a:pt x="818896" y="5270500"/>
                  </a:lnTo>
                  <a:lnTo>
                    <a:pt x="856996" y="5270500"/>
                  </a:lnTo>
                  <a:close/>
                  <a:moveTo>
                    <a:pt x="768096" y="5270500"/>
                  </a:moveTo>
                  <a:lnTo>
                    <a:pt x="729996" y="5270500"/>
                  </a:lnTo>
                  <a:lnTo>
                    <a:pt x="729996" y="5257800"/>
                  </a:lnTo>
                  <a:lnTo>
                    <a:pt x="768096" y="5257800"/>
                  </a:lnTo>
                  <a:close/>
                  <a:moveTo>
                    <a:pt x="679196" y="5257800"/>
                  </a:moveTo>
                  <a:lnTo>
                    <a:pt x="641096" y="5257800"/>
                  </a:lnTo>
                  <a:lnTo>
                    <a:pt x="641096" y="5245100"/>
                  </a:lnTo>
                  <a:lnTo>
                    <a:pt x="679196" y="5245100"/>
                  </a:lnTo>
                  <a:close/>
                  <a:moveTo>
                    <a:pt x="590296" y="5245100"/>
                  </a:moveTo>
                  <a:lnTo>
                    <a:pt x="552196" y="5245100"/>
                  </a:lnTo>
                  <a:lnTo>
                    <a:pt x="552196" y="5232400"/>
                  </a:lnTo>
                  <a:lnTo>
                    <a:pt x="590296" y="5232400"/>
                  </a:lnTo>
                  <a:close/>
                  <a:moveTo>
                    <a:pt x="501396" y="5232400"/>
                  </a:moveTo>
                  <a:lnTo>
                    <a:pt x="463296" y="5232400"/>
                  </a:lnTo>
                  <a:lnTo>
                    <a:pt x="463296" y="5219700"/>
                  </a:lnTo>
                  <a:lnTo>
                    <a:pt x="501396" y="5219700"/>
                  </a:lnTo>
                  <a:close/>
                  <a:moveTo>
                    <a:pt x="412496" y="5219700"/>
                  </a:moveTo>
                  <a:lnTo>
                    <a:pt x="374396" y="5219700"/>
                  </a:lnTo>
                  <a:lnTo>
                    <a:pt x="374396" y="5207000"/>
                  </a:lnTo>
                  <a:lnTo>
                    <a:pt x="412496" y="5207000"/>
                  </a:lnTo>
                  <a:close/>
                  <a:moveTo>
                    <a:pt x="323596" y="5207000"/>
                  </a:moveTo>
                  <a:lnTo>
                    <a:pt x="285496" y="5207000"/>
                  </a:lnTo>
                  <a:lnTo>
                    <a:pt x="285496" y="5194300"/>
                  </a:lnTo>
                  <a:lnTo>
                    <a:pt x="323596" y="5194300"/>
                  </a:lnTo>
                  <a:close/>
                  <a:moveTo>
                    <a:pt x="234696" y="5194300"/>
                  </a:moveTo>
                  <a:lnTo>
                    <a:pt x="196596" y="5194300"/>
                  </a:lnTo>
                  <a:lnTo>
                    <a:pt x="196596" y="5181600"/>
                  </a:lnTo>
                  <a:lnTo>
                    <a:pt x="234696" y="5181600"/>
                  </a:lnTo>
                  <a:close/>
                  <a:moveTo>
                    <a:pt x="145796" y="5181600"/>
                  </a:moveTo>
                  <a:lnTo>
                    <a:pt x="107696" y="5181600"/>
                  </a:lnTo>
                  <a:lnTo>
                    <a:pt x="107696" y="5168900"/>
                  </a:lnTo>
                  <a:lnTo>
                    <a:pt x="145796" y="5168900"/>
                  </a:lnTo>
                  <a:close/>
                  <a:moveTo>
                    <a:pt x="56896" y="5168900"/>
                  </a:moveTo>
                  <a:lnTo>
                    <a:pt x="18796" y="5168900"/>
                  </a:lnTo>
                  <a:lnTo>
                    <a:pt x="18796" y="5156200"/>
                  </a:lnTo>
                  <a:lnTo>
                    <a:pt x="56896" y="5156200"/>
                  </a:lnTo>
                  <a:close/>
                  <a:moveTo>
                    <a:pt x="0" y="5505196"/>
                  </a:moveTo>
                  <a:lnTo>
                    <a:pt x="0" y="5467096"/>
                  </a:lnTo>
                  <a:lnTo>
                    <a:pt x="12700" y="5467096"/>
                  </a:lnTo>
                  <a:lnTo>
                    <a:pt x="12700" y="5505196"/>
                  </a:lnTo>
                  <a:close/>
                  <a:moveTo>
                    <a:pt x="12700" y="5416296"/>
                  </a:moveTo>
                  <a:lnTo>
                    <a:pt x="12700" y="5378196"/>
                  </a:lnTo>
                  <a:lnTo>
                    <a:pt x="12700" y="5416296"/>
                  </a:lnTo>
                  <a:close/>
                  <a:moveTo>
                    <a:pt x="12700" y="5327396"/>
                  </a:moveTo>
                  <a:lnTo>
                    <a:pt x="12700" y="5289296"/>
                  </a:lnTo>
                  <a:lnTo>
                    <a:pt x="12700" y="5327396"/>
                  </a:lnTo>
                  <a:close/>
                  <a:moveTo>
                    <a:pt x="12700" y="5238496"/>
                  </a:moveTo>
                  <a:lnTo>
                    <a:pt x="12700" y="5200396"/>
                  </a:lnTo>
                  <a:lnTo>
                    <a:pt x="12700" y="5238496"/>
                  </a:lnTo>
                  <a:close/>
                  <a:moveTo>
                    <a:pt x="12700" y="5149596"/>
                  </a:moveTo>
                  <a:lnTo>
                    <a:pt x="12700" y="5111496"/>
                  </a:lnTo>
                  <a:lnTo>
                    <a:pt x="12700" y="5149596"/>
                  </a:lnTo>
                  <a:close/>
                  <a:moveTo>
                    <a:pt x="12700" y="5060696"/>
                  </a:moveTo>
                  <a:lnTo>
                    <a:pt x="12700" y="5022596"/>
                  </a:lnTo>
                  <a:lnTo>
                    <a:pt x="12700" y="5060696"/>
                  </a:lnTo>
                  <a:close/>
                  <a:moveTo>
                    <a:pt x="12700" y="4971796"/>
                  </a:moveTo>
                  <a:lnTo>
                    <a:pt x="12700" y="4933696"/>
                  </a:lnTo>
                  <a:lnTo>
                    <a:pt x="12700" y="4971796"/>
                  </a:lnTo>
                  <a:close/>
                  <a:moveTo>
                    <a:pt x="12700" y="4882896"/>
                  </a:moveTo>
                  <a:lnTo>
                    <a:pt x="12700" y="4844796"/>
                  </a:lnTo>
                  <a:lnTo>
                    <a:pt x="12700" y="4882896"/>
                  </a:lnTo>
                  <a:close/>
                  <a:moveTo>
                    <a:pt x="12700" y="4793996"/>
                  </a:moveTo>
                  <a:lnTo>
                    <a:pt x="12700" y="4755896"/>
                  </a:lnTo>
                  <a:lnTo>
                    <a:pt x="12700" y="4793996"/>
                  </a:lnTo>
                  <a:close/>
                  <a:moveTo>
                    <a:pt x="12700" y="4705096"/>
                  </a:moveTo>
                  <a:lnTo>
                    <a:pt x="12700" y="4666996"/>
                  </a:lnTo>
                  <a:lnTo>
                    <a:pt x="12700" y="4705096"/>
                  </a:lnTo>
                  <a:close/>
                  <a:moveTo>
                    <a:pt x="12700" y="4616196"/>
                  </a:moveTo>
                  <a:lnTo>
                    <a:pt x="12700" y="4578096"/>
                  </a:lnTo>
                  <a:lnTo>
                    <a:pt x="12700" y="4616196"/>
                  </a:lnTo>
                  <a:close/>
                  <a:moveTo>
                    <a:pt x="12700" y="4527296"/>
                  </a:moveTo>
                  <a:lnTo>
                    <a:pt x="12700" y="4489196"/>
                  </a:lnTo>
                  <a:lnTo>
                    <a:pt x="12700" y="4527296"/>
                  </a:lnTo>
                  <a:close/>
                  <a:moveTo>
                    <a:pt x="12700" y="4438396"/>
                  </a:moveTo>
                  <a:lnTo>
                    <a:pt x="12700" y="4400296"/>
                  </a:lnTo>
                  <a:lnTo>
                    <a:pt x="12700" y="4438396"/>
                  </a:lnTo>
                  <a:close/>
                  <a:moveTo>
                    <a:pt x="12700" y="4349496"/>
                  </a:moveTo>
                  <a:lnTo>
                    <a:pt x="12700" y="4311396"/>
                  </a:lnTo>
                  <a:lnTo>
                    <a:pt x="12700" y="4349496"/>
                  </a:lnTo>
                  <a:close/>
                  <a:moveTo>
                    <a:pt x="12700" y="4260596"/>
                  </a:moveTo>
                  <a:lnTo>
                    <a:pt x="12700" y="4222496"/>
                  </a:lnTo>
                  <a:lnTo>
                    <a:pt x="12700" y="4260596"/>
                  </a:lnTo>
                  <a:close/>
                  <a:moveTo>
                    <a:pt x="12700" y="4171696"/>
                  </a:moveTo>
                  <a:lnTo>
                    <a:pt x="12700" y="4133596"/>
                  </a:lnTo>
                  <a:lnTo>
                    <a:pt x="12700" y="4171696"/>
                  </a:lnTo>
                  <a:close/>
                  <a:moveTo>
                    <a:pt x="12700" y="4082796"/>
                  </a:moveTo>
                  <a:lnTo>
                    <a:pt x="12700" y="4044696"/>
                  </a:lnTo>
                  <a:lnTo>
                    <a:pt x="12700" y="4082796"/>
                  </a:lnTo>
                  <a:close/>
                  <a:moveTo>
                    <a:pt x="12700" y="3993896"/>
                  </a:moveTo>
                  <a:lnTo>
                    <a:pt x="12700" y="3955796"/>
                  </a:lnTo>
                  <a:lnTo>
                    <a:pt x="12700" y="3993896"/>
                  </a:lnTo>
                  <a:close/>
                  <a:moveTo>
                    <a:pt x="12700" y="3904996"/>
                  </a:moveTo>
                  <a:lnTo>
                    <a:pt x="12700" y="3866896"/>
                  </a:lnTo>
                  <a:lnTo>
                    <a:pt x="12700" y="3904996"/>
                  </a:lnTo>
                  <a:close/>
                  <a:moveTo>
                    <a:pt x="12700" y="3816096"/>
                  </a:moveTo>
                  <a:lnTo>
                    <a:pt x="12700" y="3777996"/>
                  </a:lnTo>
                  <a:lnTo>
                    <a:pt x="12700" y="3816096"/>
                  </a:lnTo>
                  <a:close/>
                  <a:moveTo>
                    <a:pt x="12700" y="3727196"/>
                  </a:moveTo>
                  <a:lnTo>
                    <a:pt x="12700" y="3689096"/>
                  </a:lnTo>
                  <a:lnTo>
                    <a:pt x="12700" y="3727196"/>
                  </a:lnTo>
                  <a:close/>
                  <a:moveTo>
                    <a:pt x="12700" y="3638296"/>
                  </a:moveTo>
                  <a:lnTo>
                    <a:pt x="12700" y="3600196"/>
                  </a:lnTo>
                  <a:lnTo>
                    <a:pt x="12700" y="3638296"/>
                  </a:lnTo>
                  <a:close/>
                  <a:moveTo>
                    <a:pt x="12700" y="3549396"/>
                  </a:moveTo>
                  <a:lnTo>
                    <a:pt x="12700" y="3511296"/>
                  </a:lnTo>
                  <a:lnTo>
                    <a:pt x="12700" y="3549396"/>
                  </a:lnTo>
                  <a:close/>
                  <a:moveTo>
                    <a:pt x="12700" y="3460496"/>
                  </a:moveTo>
                  <a:lnTo>
                    <a:pt x="12700" y="3422396"/>
                  </a:lnTo>
                  <a:lnTo>
                    <a:pt x="12700" y="3460496"/>
                  </a:lnTo>
                  <a:close/>
                  <a:moveTo>
                    <a:pt x="12700" y="3371596"/>
                  </a:moveTo>
                  <a:lnTo>
                    <a:pt x="12700" y="3333496"/>
                  </a:lnTo>
                  <a:lnTo>
                    <a:pt x="12700" y="3371596"/>
                  </a:lnTo>
                  <a:close/>
                  <a:moveTo>
                    <a:pt x="12700" y="3282696"/>
                  </a:moveTo>
                  <a:lnTo>
                    <a:pt x="12700" y="3244596"/>
                  </a:lnTo>
                  <a:lnTo>
                    <a:pt x="12700" y="3282696"/>
                  </a:lnTo>
                  <a:close/>
                  <a:moveTo>
                    <a:pt x="12700" y="3193796"/>
                  </a:moveTo>
                  <a:lnTo>
                    <a:pt x="12700" y="3155696"/>
                  </a:lnTo>
                  <a:lnTo>
                    <a:pt x="12700" y="3193796"/>
                  </a:lnTo>
                  <a:close/>
                  <a:moveTo>
                    <a:pt x="12700" y="3104896"/>
                  </a:moveTo>
                  <a:lnTo>
                    <a:pt x="12700" y="3066796"/>
                  </a:lnTo>
                  <a:lnTo>
                    <a:pt x="12700" y="3104896"/>
                  </a:lnTo>
                  <a:close/>
                  <a:moveTo>
                    <a:pt x="12700" y="3015996"/>
                  </a:moveTo>
                  <a:lnTo>
                    <a:pt x="12700" y="2977896"/>
                  </a:lnTo>
                  <a:lnTo>
                    <a:pt x="12700" y="3015996"/>
                  </a:lnTo>
                  <a:close/>
                  <a:moveTo>
                    <a:pt x="12700" y="2927096"/>
                  </a:moveTo>
                  <a:lnTo>
                    <a:pt x="12700" y="2888996"/>
                  </a:lnTo>
                  <a:lnTo>
                    <a:pt x="12700" y="2927096"/>
                  </a:lnTo>
                  <a:close/>
                  <a:moveTo>
                    <a:pt x="12700" y="2838196"/>
                  </a:moveTo>
                  <a:lnTo>
                    <a:pt x="12700" y="2800096"/>
                  </a:lnTo>
                  <a:lnTo>
                    <a:pt x="12700" y="2838196"/>
                  </a:lnTo>
                  <a:close/>
                  <a:moveTo>
                    <a:pt x="12700" y="2749296"/>
                  </a:moveTo>
                  <a:lnTo>
                    <a:pt x="12700" y="2711196"/>
                  </a:lnTo>
                  <a:lnTo>
                    <a:pt x="12700" y="2749296"/>
                  </a:lnTo>
                  <a:close/>
                  <a:moveTo>
                    <a:pt x="12700" y="2660396"/>
                  </a:moveTo>
                  <a:lnTo>
                    <a:pt x="12700" y="2622296"/>
                  </a:lnTo>
                  <a:lnTo>
                    <a:pt x="12700" y="2660396"/>
                  </a:lnTo>
                  <a:close/>
                  <a:moveTo>
                    <a:pt x="12700" y="2571496"/>
                  </a:moveTo>
                  <a:lnTo>
                    <a:pt x="12700" y="2533396"/>
                  </a:lnTo>
                  <a:lnTo>
                    <a:pt x="12700" y="2571496"/>
                  </a:lnTo>
                  <a:close/>
                  <a:moveTo>
                    <a:pt x="12700" y="2482596"/>
                  </a:moveTo>
                  <a:lnTo>
                    <a:pt x="12700" y="2444496"/>
                  </a:lnTo>
                  <a:lnTo>
                    <a:pt x="12700" y="2482596"/>
                  </a:lnTo>
                  <a:close/>
                  <a:moveTo>
                    <a:pt x="12700" y="2393696"/>
                  </a:moveTo>
                  <a:lnTo>
                    <a:pt x="12700" y="2355596"/>
                  </a:lnTo>
                  <a:lnTo>
                    <a:pt x="12700" y="2393696"/>
                  </a:lnTo>
                  <a:close/>
                  <a:moveTo>
                    <a:pt x="12700" y="2304796"/>
                  </a:moveTo>
                  <a:lnTo>
                    <a:pt x="12700" y="2266696"/>
                  </a:lnTo>
                  <a:lnTo>
                    <a:pt x="12700" y="2304796"/>
                  </a:lnTo>
                  <a:close/>
                  <a:moveTo>
                    <a:pt x="12700" y="2215896"/>
                  </a:moveTo>
                  <a:lnTo>
                    <a:pt x="12700" y="2177796"/>
                  </a:lnTo>
                  <a:lnTo>
                    <a:pt x="12700" y="2215896"/>
                  </a:lnTo>
                  <a:close/>
                  <a:moveTo>
                    <a:pt x="12700" y="2126996"/>
                  </a:moveTo>
                  <a:lnTo>
                    <a:pt x="12700" y="2088896"/>
                  </a:lnTo>
                  <a:lnTo>
                    <a:pt x="12700" y="2126996"/>
                  </a:lnTo>
                  <a:close/>
                  <a:moveTo>
                    <a:pt x="12700" y="2038096"/>
                  </a:moveTo>
                  <a:lnTo>
                    <a:pt x="12700" y="1999996"/>
                  </a:lnTo>
                  <a:lnTo>
                    <a:pt x="12700" y="2038096"/>
                  </a:lnTo>
                  <a:close/>
                  <a:moveTo>
                    <a:pt x="12700" y="1949196"/>
                  </a:moveTo>
                  <a:lnTo>
                    <a:pt x="12700" y="1911096"/>
                  </a:lnTo>
                  <a:lnTo>
                    <a:pt x="12700" y="1949196"/>
                  </a:lnTo>
                  <a:close/>
                  <a:moveTo>
                    <a:pt x="12700" y="1860296"/>
                  </a:moveTo>
                  <a:lnTo>
                    <a:pt x="12700" y="1822196"/>
                  </a:lnTo>
                  <a:lnTo>
                    <a:pt x="12700" y="1860296"/>
                  </a:lnTo>
                  <a:close/>
                  <a:moveTo>
                    <a:pt x="12700" y="1771396"/>
                  </a:moveTo>
                  <a:lnTo>
                    <a:pt x="12700" y="1733296"/>
                  </a:lnTo>
                  <a:lnTo>
                    <a:pt x="12700" y="1771396"/>
                  </a:lnTo>
                  <a:close/>
                  <a:moveTo>
                    <a:pt x="12700" y="1682496"/>
                  </a:moveTo>
                  <a:lnTo>
                    <a:pt x="12700" y="1644396"/>
                  </a:lnTo>
                  <a:lnTo>
                    <a:pt x="12700" y="1682496"/>
                  </a:lnTo>
                  <a:close/>
                  <a:moveTo>
                    <a:pt x="12700" y="1593596"/>
                  </a:moveTo>
                  <a:lnTo>
                    <a:pt x="12700" y="1555496"/>
                  </a:lnTo>
                  <a:lnTo>
                    <a:pt x="12700" y="1593596"/>
                  </a:lnTo>
                  <a:close/>
                  <a:moveTo>
                    <a:pt x="12700" y="1504696"/>
                  </a:moveTo>
                  <a:lnTo>
                    <a:pt x="12700" y="1466596"/>
                  </a:lnTo>
                  <a:lnTo>
                    <a:pt x="12700" y="1504696"/>
                  </a:lnTo>
                  <a:close/>
                  <a:moveTo>
                    <a:pt x="12700" y="1415796"/>
                  </a:moveTo>
                  <a:lnTo>
                    <a:pt x="12700" y="1377696"/>
                  </a:lnTo>
                  <a:lnTo>
                    <a:pt x="12700" y="1415796"/>
                  </a:lnTo>
                  <a:close/>
                  <a:moveTo>
                    <a:pt x="12700" y="1326896"/>
                  </a:moveTo>
                  <a:lnTo>
                    <a:pt x="12700" y="1288796"/>
                  </a:lnTo>
                  <a:lnTo>
                    <a:pt x="12700" y="1326896"/>
                  </a:lnTo>
                  <a:close/>
                  <a:moveTo>
                    <a:pt x="12700" y="1237996"/>
                  </a:moveTo>
                  <a:lnTo>
                    <a:pt x="12700" y="1199896"/>
                  </a:lnTo>
                  <a:lnTo>
                    <a:pt x="12700" y="1237996"/>
                  </a:lnTo>
                  <a:close/>
                  <a:moveTo>
                    <a:pt x="12700" y="1149096"/>
                  </a:moveTo>
                  <a:lnTo>
                    <a:pt x="12700" y="1110996"/>
                  </a:lnTo>
                  <a:lnTo>
                    <a:pt x="12700" y="1149096"/>
                  </a:lnTo>
                  <a:close/>
                  <a:moveTo>
                    <a:pt x="12700" y="1060196"/>
                  </a:moveTo>
                  <a:lnTo>
                    <a:pt x="12700" y="1022096"/>
                  </a:lnTo>
                  <a:lnTo>
                    <a:pt x="12700" y="1060196"/>
                  </a:lnTo>
                  <a:close/>
                  <a:moveTo>
                    <a:pt x="12700" y="971296"/>
                  </a:moveTo>
                  <a:lnTo>
                    <a:pt x="12700" y="933196"/>
                  </a:lnTo>
                  <a:lnTo>
                    <a:pt x="12700" y="971296"/>
                  </a:lnTo>
                  <a:close/>
                  <a:moveTo>
                    <a:pt x="12700" y="882396"/>
                  </a:moveTo>
                  <a:lnTo>
                    <a:pt x="12700" y="844296"/>
                  </a:lnTo>
                  <a:lnTo>
                    <a:pt x="12700" y="882396"/>
                  </a:lnTo>
                  <a:close/>
                  <a:moveTo>
                    <a:pt x="12700" y="793496"/>
                  </a:moveTo>
                  <a:lnTo>
                    <a:pt x="12700" y="755396"/>
                  </a:lnTo>
                  <a:lnTo>
                    <a:pt x="12700" y="793496"/>
                  </a:lnTo>
                  <a:close/>
                  <a:moveTo>
                    <a:pt x="12700" y="704596"/>
                  </a:moveTo>
                  <a:lnTo>
                    <a:pt x="12700" y="666496"/>
                  </a:lnTo>
                  <a:lnTo>
                    <a:pt x="12700" y="704596"/>
                  </a:lnTo>
                  <a:close/>
                  <a:moveTo>
                    <a:pt x="12700" y="615696"/>
                  </a:moveTo>
                  <a:lnTo>
                    <a:pt x="12700" y="577596"/>
                  </a:lnTo>
                  <a:lnTo>
                    <a:pt x="12700" y="615696"/>
                  </a:lnTo>
                  <a:close/>
                  <a:moveTo>
                    <a:pt x="12700" y="526796"/>
                  </a:moveTo>
                  <a:lnTo>
                    <a:pt x="12700" y="488696"/>
                  </a:lnTo>
                  <a:lnTo>
                    <a:pt x="12700" y="526796"/>
                  </a:lnTo>
                  <a:close/>
                  <a:moveTo>
                    <a:pt x="12700" y="437896"/>
                  </a:moveTo>
                  <a:lnTo>
                    <a:pt x="12700" y="399796"/>
                  </a:lnTo>
                  <a:lnTo>
                    <a:pt x="12700" y="437896"/>
                  </a:lnTo>
                  <a:close/>
                  <a:moveTo>
                    <a:pt x="12700" y="348996"/>
                  </a:moveTo>
                  <a:lnTo>
                    <a:pt x="12700" y="310896"/>
                  </a:lnTo>
                  <a:lnTo>
                    <a:pt x="12700" y="348996"/>
                  </a:lnTo>
                  <a:close/>
                  <a:moveTo>
                    <a:pt x="12700" y="260096"/>
                  </a:moveTo>
                  <a:lnTo>
                    <a:pt x="12700" y="221996"/>
                  </a:lnTo>
                  <a:lnTo>
                    <a:pt x="12700" y="260096"/>
                  </a:lnTo>
                  <a:close/>
                  <a:moveTo>
                    <a:pt x="12700" y="171196"/>
                  </a:moveTo>
                  <a:lnTo>
                    <a:pt x="12700" y="133096"/>
                  </a:lnTo>
                  <a:lnTo>
                    <a:pt x="12700" y="171196"/>
                  </a:lnTo>
                  <a:close/>
                  <a:moveTo>
                    <a:pt x="12700" y="82296"/>
                  </a:moveTo>
                  <a:lnTo>
                    <a:pt x="12700" y="44196"/>
                  </a:lnTo>
                  <a:lnTo>
                    <a:pt x="12700" y="82296"/>
                  </a:lnTo>
                  <a:close/>
                  <a:moveTo>
                    <a:pt x="6350" y="0"/>
                  </a:moveTo>
                  <a:lnTo>
                    <a:pt x="44450" y="0"/>
                  </a:lnTo>
                  <a:lnTo>
                    <a:pt x="444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313095" y="5254028"/>
            <a:ext cx="1663627" cy="19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313095" y="5592166"/>
            <a:ext cx="1663627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>
                <a:solidFill>
                  <a:srgbClr val="8A857B"/>
                </a:solidFill>
                <a:latin typeface="Georgia"/>
                <a:ea typeface="Georgia"/>
                <a:cs typeface="Georgia"/>
                <a:sym typeface="Georgia"/>
              </a:rPr>
              <a:t>Ablation Study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313095" y="6316066"/>
            <a:ext cx="1663627" cy="109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Components removed from best model — what mattered most?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313095" y="8044853"/>
            <a:ext cx="1663627" cy="825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3D3A36"/>
                </a:solidFill>
                <a:latin typeface="Georgia"/>
                <a:ea typeface="Georgia"/>
                <a:cs typeface="Georgia"/>
                <a:sym typeface="Georgia"/>
              </a:rPr>
              <a:t>→ slide 08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4573191"/>
            <a:ext cx="4227614" cy="14288"/>
            <a:chOff x="0" y="0"/>
            <a:chExt cx="5636819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36768" cy="19050"/>
            </a:xfrm>
            <a:custGeom>
              <a:avLst/>
              <a:gdLst/>
              <a:ahLst/>
              <a:cxnLst/>
              <a:rect r="r" b="b" t="t" l="l"/>
              <a:pathLst>
                <a:path h="1905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6350" y="4232672"/>
            <a:ext cx="4087739" cy="254794"/>
            <a:chOff x="0" y="0"/>
            <a:chExt cx="5450319" cy="339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0320" cy="339725"/>
            </a:xfrm>
            <a:custGeom>
              <a:avLst/>
              <a:gdLst/>
              <a:ahLst/>
              <a:cxnLst/>
              <a:rect r="r" b="b" t="t" l="l"/>
              <a:pathLst>
                <a:path h="339725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339725"/>
                  </a:lnTo>
                  <a:lnTo>
                    <a:pt x="0" y="339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604" r="0" b="-2626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450319" cy="358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89">
                  <a:solidFill>
                    <a:srgbClr val="8A857B"/>
                  </a:solidFill>
                  <a:latin typeface="Arial"/>
                  <a:ea typeface="Arial"/>
                  <a:cs typeface="Arial"/>
                  <a:sym typeface="Arial"/>
                </a:rPr>
                <a:t>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70614" y="4573191"/>
            <a:ext cx="1425397" cy="14288"/>
            <a:chOff x="0" y="0"/>
            <a:chExt cx="190053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0555" cy="19050"/>
            </a:xfrm>
            <a:custGeom>
              <a:avLst/>
              <a:gdLst/>
              <a:ahLst/>
              <a:cxnLst/>
              <a:rect r="r" b="b" t="t" l="l"/>
              <a:pathLst>
                <a:path h="1905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27764" y="4232672"/>
            <a:ext cx="1234897" cy="254794"/>
            <a:chOff x="0" y="0"/>
            <a:chExt cx="1646530" cy="339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6535" cy="339725"/>
            </a:xfrm>
            <a:custGeom>
              <a:avLst/>
              <a:gdLst/>
              <a:ahLst/>
              <a:cxnLst/>
              <a:rect r="r" b="b" t="t" l="l"/>
              <a:pathLst>
                <a:path h="339725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339725"/>
                  </a:lnTo>
                  <a:lnTo>
                    <a:pt x="0" y="339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37" r="0" b="-444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646530" cy="358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189">
                  <a:solidFill>
                    <a:srgbClr val="8A857B"/>
                  </a:solidFill>
                  <a:latin typeface="Arial"/>
                  <a:ea typeface="Arial"/>
                  <a:cs typeface="Arial"/>
                  <a:sym typeface="Arial"/>
                </a:rPr>
                <a:t>TEST ACC.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96011" y="4573191"/>
            <a:ext cx="1759296" cy="14288"/>
            <a:chOff x="0" y="0"/>
            <a:chExt cx="2345728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5690" cy="19050"/>
            </a:xfrm>
            <a:custGeom>
              <a:avLst/>
              <a:gdLst/>
              <a:ahLst/>
              <a:cxnLst/>
              <a:rect r="r" b="b" t="t" l="l"/>
              <a:pathLst>
                <a:path h="1905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3161" y="4232672"/>
            <a:ext cx="1568796" cy="254794"/>
            <a:chOff x="0" y="0"/>
            <a:chExt cx="2091728" cy="339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1729" cy="339725"/>
            </a:xfrm>
            <a:custGeom>
              <a:avLst/>
              <a:gdLst/>
              <a:ahLst/>
              <a:cxnLst/>
              <a:rect r="r" b="b" t="t" l="l"/>
              <a:pathLst>
                <a:path h="339725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339725"/>
                  </a:lnTo>
                  <a:lnTo>
                    <a:pt x="0" y="339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71" r="0" b="-699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091728" cy="358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189">
                  <a:solidFill>
                    <a:srgbClr val="8A857B"/>
                  </a:solidFill>
                  <a:latin typeface="Arial"/>
                  <a:ea typeface="Arial"/>
                  <a:cs typeface="Arial"/>
                  <a:sym typeface="Arial"/>
                </a:rPr>
                <a:t>PARAMETERS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55307" y="4573191"/>
            <a:ext cx="900408" cy="14288"/>
            <a:chOff x="0" y="0"/>
            <a:chExt cx="1200544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0531" cy="19050"/>
            </a:xfrm>
            <a:custGeom>
              <a:avLst/>
              <a:gdLst/>
              <a:ahLst/>
              <a:cxnLst/>
              <a:rect r="r" b="b" t="t" l="l"/>
              <a:pathLst>
                <a:path h="1905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612457" y="4232672"/>
            <a:ext cx="709908" cy="254794"/>
            <a:chOff x="0" y="0"/>
            <a:chExt cx="946544" cy="339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6547" cy="339725"/>
            </a:xfrm>
            <a:custGeom>
              <a:avLst/>
              <a:gdLst/>
              <a:ahLst/>
              <a:cxnLst/>
              <a:rect r="r" b="b" t="t" l="l"/>
              <a:pathLst>
                <a:path h="339725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339725"/>
                  </a:lnTo>
                  <a:lnTo>
                    <a:pt x="0" y="339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9" r="0" b="-42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46544" cy="358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189">
                  <a:solidFill>
                    <a:srgbClr val="8A857B"/>
                  </a:solidFill>
                  <a:latin typeface="Arial"/>
                  <a:ea typeface="Arial"/>
                  <a:cs typeface="Arial"/>
                  <a:sym typeface="Arial"/>
                </a:rPr>
                <a:t>RANK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3000" y="5099447"/>
            <a:ext cx="4227614" cy="9525"/>
            <a:chOff x="0" y="0"/>
            <a:chExt cx="5636819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76350" y="4711303"/>
            <a:ext cx="4087739" cy="302419"/>
            <a:chOff x="0" y="0"/>
            <a:chExt cx="5450319" cy="4032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50320" cy="403225"/>
            </a:xfrm>
            <a:custGeom>
              <a:avLst/>
              <a:gdLst/>
              <a:ahLst/>
              <a:cxnLst/>
              <a:rect r="r" b="b" t="t" l="l"/>
              <a:pathLst>
                <a:path h="403225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3225"/>
                  </a:lnTo>
                  <a:lnTo>
                    <a:pt x="0" y="403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375" r="0" b="-2133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450319" cy="4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MLP Baseline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70614" y="5099447"/>
            <a:ext cx="1425397" cy="9525"/>
            <a:chOff x="0" y="0"/>
            <a:chExt cx="190053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27764" y="4711303"/>
            <a:ext cx="1234897" cy="302419"/>
            <a:chOff x="0" y="0"/>
            <a:chExt cx="1646530" cy="4032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6535" cy="403225"/>
            </a:xfrm>
            <a:custGeom>
              <a:avLst/>
              <a:gdLst/>
              <a:ahLst/>
              <a:cxnLst/>
              <a:rect r="r" b="b" t="t" l="l"/>
              <a:pathLst>
                <a:path h="403225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3225"/>
                  </a:lnTo>
                  <a:lnTo>
                    <a:pt x="0" y="403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5" r="0" b="-295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646530" cy="41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32.77%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96011" y="5099447"/>
            <a:ext cx="1759296" cy="9525"/>
            <a:chOff x="0" y="0"/>
            <a:chExt cx="2345728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53161" y="4711303"/>
            <a:ext cx="1568796" cy="302419"/>
            <a:chOff x="0" y="0"/>
            <a:chExt cx="2091728" cy="4032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91729" cy="403225"/>
            </a:xfrm>
            <a:custGeom>
              <a:avLst/>
              <a:gdLst/>
              <a:ahLst/>
              <a:cxnLst/>
              <a:rect r="r" b="b" t="t" l="l"/>
              <a:pathLst>
                <a:path h="403225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3225"/>
                  </a:lnTo>
                  <a:lnTo>
                    <a:pt x="0" y="403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78" r="0" b="-510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091728" cy="41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1,345,287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55307" y="5099447"/>
            <a:ext cx="900408" cy="9525"/>
            <a:chOff x="0" y="0"/>
            <a:chExt cx="1200544" cy="12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612457" y="4711303"/>
            <a:ext cx="709908" cy="302419"/>
            <a:chOff x="0" y="0"/>
            <a:chExt cx="946544" cy="4032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6547" cy="403225"/>
            </a:xfrm>
            <a:custGeom>
              <a:avLst/>
              <a:gdLst/>
              <a:ahLst/>
              <a:cxnLst/>
              <a:rect r="r" b="b" t="t" l="l"/>
              <a:pathLst>
                <a:path h="403225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3225"/>
                  </a:lnTo>
                  <a:lnTo>
                    <a:pt x="0" y="403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56" t="0" r="-465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46544" cy="41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43000" y="5618559"/>
            <a:ext cx="4227614" cy="9525"/>
            <a:chOff x="0" y="0"/>
            <a:chExt cx="5636819" cy="12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76350" y="5232797"/>
            <a:ext cx="4087739" cy="300038"/>
            <a:chOff x="0" y="0"/>
            <a:chExt cx="5450319" cy="400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Basic CNN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370614" y="5618559"/>
            <a:ext cx="1425397" cy="9525"/>
            <a:chOff x="0" y="0"/>
            <a:chExt cx="190053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427764" y="5232797"/>
            <a:ext cx="1234897" cy="300038"/>
            <a:chOff x="0" y="0"/>
            <a:chExt cx="1646530" cy="400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53.78%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96011" y="5618559"/>
            <a:ext cx="1759296" cy="9525"/>
            <a:chOff x="0" y="0"/>
            <a:chExt cx="2345728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853161" y="5232797"/>
            <a:ext cx="1568796" cy="300038"/>
            <a:chOff x="0" y="0"/>
            <a:chExt cx="2091728" cy="400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1,274,375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555307" y="5618559"/>
            <a:ext cx="900408" cy="9525"/>
            <a:chOff x="0" y="0"/>
            <a:chExt cx="1200544" cy="12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612457" y="5232797"/>
            <a:ext cx="709908" cy="300038"/>
            <a:chOff x="0" y="0"/>
            <a:chExt cx="946544" cy="400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43000" y="6137672"/>
            <a:ext cx="4227614" cy="9525"/>
            <a:chOff x="0" y="0"/>
            <a:chExt cx="5636819" cy="127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76350" y="5751909"/>
            <a:ext cx="4087739" cy="300038"/>
            <a:chOff x="0" y="0"/>
            <a:chExt cx="5450319" cy="4000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CNN + BN + Dropout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370614" y="6137672"/>
            <a:ext cx="1425397" cy="9525"/>
            <a:chOff x="0" y="0"/>
            <a:chExt cx="1900530" cy="127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427764" y="5751909"/>
            <a:ext cx="1234897" cy="300038"/>
            <a:chOff x="0" y="0"/>
            <a:chExt cx="1646530" cy="4000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54.39%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796011" y="6137672"/>
            <a:ext cx="1759296" cy="9525"/>
            <a:chOff x="0" y="0"/>
            <a:chExt cx="2345728" cy="127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853161" y="5751909"/>
            <a:ext cx="1568796" cy="300038"/>
            <a:chOff x="0" y="0"/>
            <a:chExt cx="2091728" cy="4000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457,351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555307" y="6137672"/>
            <a:ext cx="900408" cy="9525"/>
            <a:chOff x="0" y="0"/>
            <a:chExt cx="1200544" cy="127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612457" y="5751909"/>
            <a:ext cx="709908" cy="300038"/>
            <a:chOff x="0" y="0"/>
            <a:chExt cx="946544" cy="4000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43000" y="6656784"/>
            <a:ext cx="4227614" cy="9525"/>
            <a:chOff x="0" y="0"/>
            <a:chExt cx="5636819" cy="127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76350" y="6271022"/>
            <a:ext cx="4087739" cy="300038"/>
            <a:chOff x="0" y="0"/>
            <a:chExt cx="5450319" cy="4000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Optimizer: SGD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370614" y="6656784"/>
            <a:ext cx="1425397" cy="9525"/>
            <a:chOff x="0" y="0"/>
            <a:chExt cx="1900530" cy="127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427764" y="6271022"/>
            <a:ext cx="1234897" cy="300038"/>
            <a:chOff x="0" y="0"/>
            <a:chExt cx="1646530" cy="4000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51.95%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796011" y="6656784"/>
            <a:ext cx="1759296" cy="9525"/>
            <a:chOff x="0" y="0"/>
            <a:chExt cx="2345728" cy="127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853161" y="6271022"/>
            <a:ext cx="1568796" cy="300038"/>
            <a:chOff x="0" y="0"/>
            <a:chExt cx="2091728" cy="40005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457,351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555307" y="6656784"/>
            <a:ext cx="900408" cy="9525"/>
            <a:chOff x="0" y="0"/>
            <a:chExt cx="1200544" cy="127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8612457" y="6271022"/>
            <a:ext cx="709908" cy="300038"/>
            <a:chOff x="0" y="0"/>
            <a:chExt cx="946544" cy="40005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6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43000" y="7175897"/>
            <a:ext cx="4227614" cy="9525"/>
            <a:chOff x="0" y="0"/>
            <a:chExt cx="5636819" cy="127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76350" y="6790134"/>
            <a:ext cx="4087739" cy="300038"/>
            <a:chOff x="0" y="0"/>
            <a:chExt cx="5450319" cy="40005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Optimizer: Adam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370614" y="7175897"/>
            <a:ext cx="1425397" cy="9525"/>
            <a:chOff x="0" y="0"/>
            <a:chExt cx="1900530" cy="127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5427764" y="6790134"/>
            <a:ext cx="1234897" cy="300038"/>
            <a:chOff x="0" y="0"/>
            <a:chExt cx="1646530" cy="40005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57.73%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6796011" y="7175897"/>
            <a:ext cx="1759296" cy="9525"/>
            <a:chOff x="0" y="0"/>
            <a:chExt cx="2345728" cy="127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853161" y="6790134"/>
            <a:ext cx="1568796" cy="300038"/>
            <a:chOff x="0" y="0"/>
            <a:chExt cx="2091728" cy="40005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457,351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555307" y="7175897"/>
            <a:ext cx="900408" cy="9525"/>
            <a:chOff x="0" y="0"/>
            <a:chExt cx="1200544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612457" y="6790134"/>
            <a:ext cx="709908" cy="300038"/>
            <a:chOff x="0" y="0"/>
            <a:chExt cx="946544" cy="40005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43000" y="7695009"/>
            <a:ext cx="4227614" cy="9525"/>
            <a:chOff x="0" y="0"/>
            <a:chExt cx="5636819" cy="127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76350" y="7309247"/>
            <a:ext cx="4087739" cy="300038"/>
            <a:chOff x="0" y="0"/>
            <a:chExt cx="5450319" cy="40005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Arial"/>
                  <a:ea typeface="Arial"/>
                  <a:cs typeface="Arial"/>
                  <a:sym typeface="Arial"/>
                </a:rPr>
                <a:t>Optimizer: RMSProp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5370614" y="7695009"/>
            <a:ext cx="1425397" cy="9525"/>
            <a:chOff x="0" y="0"/>
            <a:chExt cx="1900530" cy="127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427764" y="7309247"/>
            <a:ext cx="1234897" cy="300038"/>
            <a:chOff x="0" y="0"/>
            <a:chExt cx="1646530" cy="40005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50.84%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796011" y="7695009"/>
            <a:ext cx="1759296" cy="9525"/>
            <a:chOff x="0" y="0"/>
            <a:chExt cx="2345728" cy="127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6853161" y="7309247"/>
            <a:ext cx="1568796" cy="300038"/>
            <a:chOff x="0" y="0"/>
            <a:chExt cx="2091728" cy="40005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457,351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8555307" y="7695009"/>
            <a:ext cx="900408" cy="9525"/>
            <a:chOff x="0" y="0"/>
            <a:chExt cx="1200544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8612457" y="7309247"/>
            <a:ext cx="709908" cy="300038"/>
            <a:chOff x="0" y="0"/>
            <a:chExt cx="946544" cy="40005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3D3A3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T-5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143000" y="7704534"/>
            <a:ext cx="8312725" cy="600075"/>
            <a:chOff x="0" y="0"/>
            <a:chExt cx="11083633" cy="8001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083671" cy="800100"/>
            </a:xfrm>
            <a:custGeom>
              <a:avLst/>
              <a:gdLst/>
              <a:ahLst/>
              <a:cxnLst/>
              <a:rect r="r" b="b" t="t" l="l"/>
              <a:pathLst>
                <a:path h="800100" w="11083671">
                  <a:moveTo>
                    <a:pt x="0" y="0"/>
                  </a:moveTo>
                  <a:lnTo>
                    <a:pt x="11083671" y="0"/>
                  </a:lnTo>
                  <a:lnTo>
                    <a:pt x="11083671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B5532E">
                <a:alpha val="392"/>
              </a:srgbClr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43000" y="8295084"/>
            <a:ext cx="4227614" cy="9525"/>
            <a:chOff x="0" y="0"/>
            <a:chExt cx="5636819" cy="127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276350" y="7828359"/>
            <a:ext cx="4087739" cy="381000"/>
            <a:chOff x="0" y="0"/>
            <a:chExt cx="5450319" cy="5080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450320" cy="508000"/>
            </a:xfrm>
            <a:custGeom>
              <a:avLst/>
              <a:gdLst/>
              <a:ahLst/>
              <a:cxnLst/>
              <a:rect r="r" b="b" t="t" l="l"/>
              <a:pathLst>
                <a:path h="508000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4" r="0" b="-15905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19050"/>
              <a:ext cx="5450319" cy="527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CNN + Augmentation </a:t>
              </a:r>
              <a:r>
                <a:rPr lang="en-US" sz="1800" i="true">
                  <a:solidFill>
                    <a:srgbClr val="B5532E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★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5370614" y="8295084"/>
            <a:ext cx="1425397" cy="9525"/>
            <a:chOff x="0" y="0"/>
            <a:chExt cx="1900530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5427764" y="7828359"/>
            <a:ext cx="1234897" cy="381000"/>
            <a:chOff x="0" y="0"/>
            <a:chExt cx="1646530" cy="5080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646535" cy="508000"/>
            </a:xfrm>
            <a:custGeom>
              <a:avLst/>
              <a:gdLst/>
              <a:ahLst/>
              <a:cxnLst/>
              <a:rect r="r" b="b" t="t" l="l"/>
              <a:pathLst>
                <a:path h="508000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4" r="0" b="-13154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9525"/>
              <a:ext cx="164653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B553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58.30%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6796011" y="8295084"/>
            <a:ext cx="1759296" cy="9525"/>
            <a:chOff x="0" y="0"/>
            <a:chExt cx="2345728" cy="127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6853161" y="7828359"/>
            <a:ext cx="1568796" cy="381000"/>
            <a:chOff x="0" y="0"/>
            <a:chExt cx="2091728" cy="5080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091729" cy="508000"/>
            </a:xfrm>
            <a:custGeom>
              <a:avLst/>
              <a:gdLst/>
              <a:ahLst/>
              <a:cxnLst/>
              <a:rect r="r" b="b" t="t" l="l"/>
              <a:pathLst>
                <a:path h="508000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1" r="0" b="-3023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9525"/>
              <a:ext cx="2091728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456,199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555307" y="8295084"/>
            <a:ext cx="900408" cy="9525"/>
            <a:chOff x="0" y="0"/>
            <a:chExt cx="1200544" cy="127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8612457" y="7828359"/>
            <a:ext cx="709908" cy="381000"/>
            <a:chOff x="0" y="0"/>
            <a:chExt cx="946544" cy="5080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946547" cy="508000"/>
            </a:xfrm>
            <a:custGeom>
              <a:avLst/>
              <a:gdLst/>
              <a:ahLst/>
              <a:cxnLst/>
              <a:rect r="r" b="b" t="t" l="l"/>
              <a:pathLst>
                <a:path h="508000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59" t="0" r="-18858" b="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946544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143000" y="8814197"/>
            <a:ext cx="4227614" cy="9525"/>
            <a:chOff x="0" y="0"/>
            <a:chExt cx="5636819" cy="127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5636768" cy="12700"/>
            </a:xfrm>
            <a:custGeom>
              <a:avLst/>
              <a:gdLst/>
              <a:ahLst/>
              <a:cxnLst/>
              <a:rect r="r" b="b" t="t" l="l"/>
              <a:pathLst>
                <a:path h="12700" w="5636768">
                  <a:moveTo>
                    <a:pt x="0" y="0"/>
                  </a:moveTo>
                  <a:lnTo>
                    <a:pt x="5636768" y="0"/>
                  </a:lnTo>
                  <a:lnTo>
                    <a:pt x="563676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276350" y="8428434"/>
            <a:ext cx="4087739" cy="300038"/>
            <a:chOff x="0" y="0"/>
            <a:chExt cx="5450319" cy="40005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450320" cy="400051"/>
            </a:xfrm>
            <a:custGeom>
              <a:avLst/>
              <a:gdLst/>
              <a:ahLst/>
              <a:cxnLst/>
              <a:rect r="r" b="b" t="t" l="l"/>
              <a:pathLst>
                <a:path h="400051" w="5450320">
                  <a:moveTo>
                    <a:pt x="0" y="0"/>
                  </a:moveTo>
                  <a:lnTo>
                    <a:pt x="5450320" y="0"/>
                  </a:lnTo>
                  <a:lnTo>
                    <a:pt x="5450320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65" r="0" b="-215465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19050"/>
              <a:ext cx="5450319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857B"/>
                  </a:solidFill>
                  <a:latin typeface="Arial"/>
                  <a:ea typeface="Arial"/>
                  <a:cs typeface="Arial"/>
                  <a:sym typeface="Arial"/>
                </a:rPr>
                <a:t>Transfer Learning (excluded — hardware)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5370614" y="8814197"/>
            <a:ext cx="1425397" cy="9525"/>
            <a:chOff x="0" y="0"/>
            <a:chExt cx="1900530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900555" cy="12700"/>
            </a:xfrm>
            <a:custGeom>
              <a:avLst/>
              <a:gdLst/>
              <a:ahLst/>
              <a:cxnLst/>
              <a:rect r="r" b="b" t="t" l="l"/>
              <a:pathLst>
                <a:path h="12700" w="1900555">
                  <a:moveTo>
                    <a:pt x="0" y="0"/>
                  </a:moveTo>
                  <a:lnTo>
                    <a:pt x="1900555" y="0"/>
                  </a:lnTo>
                  <a:lnTo>
                    <a:pt x="190055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5427764" y="8428434"/>
            <a:ext cx="1234897" cy="300038"/>
            <a:chOff x="0" y="0"/>
            <a:chExt cx="1646530" cy="40005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646535" cy="400051"/>
            </a:xfrm>
            <a:custGeom>
              <a:avLst/>
              <a:gdLst/>
              <a:ahLst/>
              <a:cxnLst/>
              <a:rect r="r" b="b" t="t" l="l"/>
              <a:pathLst>
                <a:path h="400051" w="1646535">
                  <a:moveTo>
                    <a:pt x="0" y="0"/>
                  </a:moveTo>
                  <a:lnTo>
                    <a:pt x="1646535" y="0"/>
                  </a:lnTo>
                  <a:lnTo>
                    <a:pt x="1646535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6" r="0" b="-30196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9525"/>
              <a:ext cx="1646530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857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37.60%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6796011" y="8814197"/>
            <a:ext cx="1759296" cy="9525"/>
            <a:chOff x="0" y="0"/>
            <a:chExt cx="2345728" cy="127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45690" cy="12700"/>
            </a:xfrm>
            <a:custGeom>
              <a:avLst/>
              <a:gdLst/>
              <a:ahLst/>
              <a:cxnLst/>
              <a:rect r="r" b="b" t="t" l="l"/>
              <a:pathLst>
                <a:path h="12700" w="2345690">
                  <a:moveTo>
                    <a:pt x="0" y="0"/>
                  </a:moveTo>
                  <a:lnTo>
                    <a:pt x="2345690" y="0"/>
                  </a:lnTo>
                  <a:lnTo>
                    <a:pt x="234569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6853161" y="8428434"/>
            <a:ext cx="1568796" cy="300038"/>
            <a:chOff x="0" y="0"/>
            <a:chExt cx="2091728" cy="40005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091729" cy="400051"/>
            </a:xfrm>
            <a:custGeom>
              <a:avLst/>
              <a:gdLst/>
              <a:ahLst/>
              <a:cxnLst/>
              <a:rect r="r" b="b" t="t" l="l"/>
              <a:pathLst>
                <a:path h="400051" w="2091729">
                  <a:moveTo>
                    <a:pt x="0" y="0"/>
                  </a:moveTo>
                  <a:lnTo>
                    <a:pt x="2091729" y="0"/>
                  </a:lnTo>
                  <a:lnTo>
                    <a:pt x="2091729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-5188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9525"/>
              <a:ext cx="2091728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857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—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8555307" y="8814197"/>
            <a:ext cx="900408" cy="9525"/>
            <a:chOff x="0" y="0"/>
            <a:chExt cx="1200544" cy="127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200531" cy="12700"/>
            </a:xfrm>
            <a:custGeom>
              <a:avLst/>
              <a:gdLst/>
              <a:ahLst/>
              <a:cxnLst/>
              <a:rect r="r" b="b" t="t" l="l"/>
              <a:pathLst>
                <a:path h="12700" w="1200531">
                  <a:moveTo>
                    <a:pt x="0" y="0"/>
                  </a:moveTo>
                  <a:lnTo>
                    <a:pt x="1200531" y="0"/>
                  </a:lnTo>
                  <a:lnTo>
                    <a:pt x="120053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8612457" y="8428434"/>
            <a:ext cx="709908" cy="300038"/>
            <a:chOff x="0" y="0"/>
            <a:chExt cx="946544" cy="40005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946547" cy="400051"/>
            </a:xfrm>
            <a:custGeom>
              <a:avLst/>
              <a:gdLst/>
              <a:ahLst/>
              <a:cxnLst/>
              <a:rect r="r" b="b" t="t" l="l"/>
              <a:pathLst>
                <a:path h="400051" w="946547">
                  <a:moveTo>
                    <a:pt x="0" y="0"/>
                  </a:moveTo>
                  <a:lnTo>
                    <a:pt x="946547" y="0"/>
                  </a:lnTo>
                  <a:lnTo>
                    <a:pt x="946547" y="400051"/>
                  </a:lnTo>
                  <a:lnTo>
                    <a:pt x="0" y="400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6" t="0" r="-4226" b="0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9525"/>
              <a:ext cx="946544" cy="409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857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—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9925932" y="7459266"/>
            <a:ext cx="6927275" cy="1979114"/>
            <a:chOff x="0" y="0"/>
            <a:chExt cx="9236367" cy="2638819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9236329" cy="2638806"/>
            </a:xfrm>
            <a:custGeom>
              <a:avLst/>
              <a:gdLst/>
              <a:ahLst/>
              <a:cxnLst/>
              <a:rect r="r" b="b" t="t" l="l"/>
              <a:pathLst>
                <a:path h="2638806" w="923632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9210929" y="0"/>
                  </a:lnTo>
                  <a:cubicBezTo>
                    <a:pt x="9225026" y="0"/>
                    <a:pt x="9236329" y="11430"/>
                    <a:pt x="9236329" y="25400"/>
                  </a:cubicBezTo>
                  <a:lnTo>
                    <a:pt x="9236329" y="2613406"/>
                  </a:lnTo>
                  <a:cubicBezTo>
                    <a:pt x="9236329" y="2627503"/>
                    <a:pt x="9224899" y="2638806"/>
                    <a:pt x="9210929" y="2638806"/>
                  </a:cubicBezTo>
                  <a:lnTo>
                    <a:pt x="25400" y="2638806"/>
                  </a:lnTo>
                  <a:cubicBezTo>
                    <a:pt x="11303" y="2638806"/>
                    <a:pt x="0" y="2627376"/>
                    <a:pt x="0" y="2613406"/>
                  </a:cubicBez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Freeform 188" id="188"/>
          <p:cNvSpPr/>
          <p:nvPr/>
        </p:nvSpPr>
        <p:spPr>
          <a:xfrm flipH="false" flipV="false" rot="0">
            <a:off x="9925932" y="3921528"/>
            <a:ext cx="8121131" cy="3263894"/>
          </a:xfrm>
          <a:custGeom>
            <a:avLst/>
            <a:gdLst/>
            <a:ahLst/>
            <a:cxnLst/>
            <a:rect r="r" b="b" t="t" l="l"/>
            <a:pathLst>
              <a:path h="3263894" w="8121131">
                <a:moveTo>
                  <a:pt x="0" y="0"/>
                </a:moveTo>
                <a:lnTo>
                  <a:pt x="8121131" y="0"/>
                </a:lnTo>
                <a:lnTo>
                  <a:pt x="8121131" y="3263894"/>
                </a:lnTo>
                <a:lnTo>
                  <a:pt x="0" y="3263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15" r="0" b="0"/>
            </a:stretch>
          </a:blipFill>
        </p:spPr>
      </p:sp>
      <p:sp>
        <p:nvSpPr>
          <p:cNvPr name="TextBox 189" id="189"/>
          <p:cNvSpPr txBox="true"/>
          <p:nvPr/>
        </p:nvSpPr>
        <p:spPr>
          <a:xfrm rot="0">
            <a:off x="1168403" y="863603"/>
            <a:ext cx="1124722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06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COMPARATIVE ANALYSIS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1168403" y="2320928"/>
            <a:ext cx="16431263" cy="14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CNN + Augmentation wins on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both </a:t>
            </a: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accuracy and parameter count.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0294226" y="7732319"/>
            <a:ext cx="6377921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HEADLINE FINDING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0294226" y="8099031"/>
            <a:ext cx="6377921" cy="108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195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The biggest jump came from </a:t>
            </a:r>
            <a:r>
              <a:rPr lang="en-US" sz="1950" b="true">
                <a:solidFill>
                  <a:srgbClr val="3D3A36"/>
                </a:solidFill>
                <a:latin typeface="Arial Bold"/>
                <a:ea typeface="Arial Bold"/>
                <a:cs typeface="Arial Bold"/>
                <a:sym typeface="Arial Bold"/>
              </a:rPr>
              <a:t>swapping MLP for CNN (+21.0%) </a:t>
            </a:r>
            <a:r>
              <a:rPr lang="en-US" sz="195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. Spatial structure isn't optional — it's everything.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878614" y="5097409"/>
            <a:ext cx="6493698" cy="5097553"/>
          </a:xfrm>
          <a:custGeom>
            <a:avLst/>
            <a:gdLst/>
            <a:ahLst/>
            <a:cxnLst/>
            <a:rect r="r" b="b" t="t" l="l"/>
            <a:pathLst>
              <a:path h="5097553" w="6493698">
                <a:moveTo>
                  <a:pt x="0" y="0"/>
                </a:moveTo>
                <a:lnTo>
                  <a:pt x="6493699" y="0"/>
                </a:lnTo>
                <a:lnTo>
                  <a:pt x="6493699" y="5097553"/>
                </a:lnTo>
                <a:lnTo>
                  <a:pt x="0" y="5097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8403" y="863603"/>
            <a:ext cx="161778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BEST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07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CNN + DATA AUGMENTATION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Our highest accuracy.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Fewest parameters.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8403" y="3415703"/>
            <a:ext cx="7606341" cy="172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0"/>
              </a:lnSpc>
            </a:pPr>
            <a:r>
              <a:rPr lang="en-US" sz="13500" spc="-405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58.30</a:t>
            </a:r>
            <a:r>
              <a:rPr lang="en-US" sz="13500" spc="-405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8403" y="5368328"/>
            <a:ext cx="7606341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spc="312">
                <a:solidFill>
                  <a:srgbClr val="8A857B"/>
                </a:solidFill>
                <a:latin typeface="Courier New"/>
                <a:ea typeface="Courier New"/>
                <a:cs typeface="Courier New"/>
                <a:sym typeface="Courier New"/>
              </a:rPr>
              <a:t>TEST ACCURACY · FER-2013 HOLDOUT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403" y="5849341"/>
            <a:ext cx="3532499" cy="20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8403" y="6087466"/>
            <a:ext cx="3532499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456,199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23583" y="5849341"/>
            <a:ext cx="3532499" cy="20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EPOCHS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3583" y="6087466"/>
            <a:ext cx="3532499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30 (full)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8403" y="6563716"/>
            <a:ext cx="3532499" cy="20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8403" y="6801841"/>
            <a:ext cx="3532499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Adam · lr 0.001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3583" y="6563716"/>
            <a:ext cx="3532499" cy="20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189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HUMAN CEILING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3583" y="6801841"/>
            <a:ext cx="3532499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~65%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403" y="7392391"/>
            <a:ext cx="7606341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WHAT WE CHANGED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3" y="7787678"/>
            <a:ext cx="7606341" cy="100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165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Kept the same regularized CNN, baked </a:t>
            </a:r>
            <a:r>
              <a:rPr lang="en-US" sz="1650" b="true">
                <a:solidFill>
                  <a:srgbClr val="1A1A1A"/>
                </a:solidFill>
                <a:latin typeface="Arial Bold"/>
                <a:ea typeface="Arial Bold"/>
                <a:cs typeface="Arial Bold"/>
                <a:sym typeface="Arial Bold"/>
              </a:rPr>
              <a:t>augmentation </a:t>
            </a:r>
            <a:r>
              <a:rPr lang="en-US" sz="165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directly into the model with Keras layers — RandomFlip, RandomRotation (≤15°), RandomZoom (≤15%).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64513" y="3415703"/>
            <a:ext cx="7989189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WHY IT WORKED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4513" y="3820516"/>
            <a:ext cx="7989189" cy="109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The model sees the same face at different angles, scales, and orientations during training — and learns that the emotion label doesn't change. More variety, less memorization.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3759222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ERROR ANALYSIS &amp; ABLATION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08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PER-CLASS PERFORMANCE · CNN + AUGMENTATION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 model loves a smile.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Fear is its blind spot.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3415703"/>
            <a:ext cx="7846857" cy="32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351">
                <a:solidFill>
                  <a:srgbClr val="8A857B"/>
                </a:solidFill>
                <a:latin typeface="Arial Bold"/>
                <a:ea typeface="Arial Bold"/>
                <a:cs typeface="Arial Bold"/>
                <a:sym typeface="Arial Bold"/>
              </a:rPr>
              <a:t>F1-SCORE BY EMOTION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4452337"/>
            <a:ext cx="7667625" cy="9525"/>
            <a:chOff x="0" y="0"/>
            <a:chExt cx="102235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8403" y="4020541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Happy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248275" y="4128487"/>
            <a:ext cx="2667000" cy="95250"/>
            <a:chOff x="0" y="0"/>
            <a:chExt cx="3556000" cy="12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48275" y="4128487"/>
            <a:ext cx="2667000" cy="95250"/>
            <a:chOff x="0" y="0"/>
            <a:chExt cx="3556000" cy="12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093078" y="4125316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5014312"/>
            <a:ext cx="7667625" cy="9525"/>
            <a:chOff x="0" y="0"/>
            <a:chExt cx="102235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68403" y="4582516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Surprise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248275" y="4690462"/>
            <a:ext cx="2667000" cy="95250"/>
            <a:chOff x="0" y="0"/>
            <a:chExt cx="3556000" cy="12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48275" y="4690462"/>
            <a:ext cx="2426941" cy="95250"/>
            <a:chOff x="0" y="0"/>
            <a:chExt cx="3235922" cy="12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5960" cy="127000"/>
            </a:xfrm>
            <a:custGeom>
              <a:avLst/>
              <a:gdLst/>
              <a:ahLst/>
              <a:cxnLst/>
              <a:rect r="r" b="b" t="t" l="l"/>
              <a:pathLst>
                <a:path h="127000" w="3235960">
                  <a:moveTo>
                    <a:pt x="0" y="0"/>
                  </a:moveTo>
                  <a:lnTo>
                    <a:pt x="3235960" y="0"/>
                  </a:lnTo>
                  <a:lnTo>
                    <a:pt x="323596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93078" y="4687291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0.73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43000" y="5576287"/>
            <a:ext cx="7667625" cy="9525"/>
            <a:chOff x="0" y="0"/>
            <a:chExt cx="102235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68403" y="5144491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Neutral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248275" y="5252437"/>
            <a:ext cx="2667000" cy="95250"/>
            <a:chOff x="0" y="0"/>
            <a:chExt cx="3556000" cy="12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48275" y="5252437"/>
            <a:ext cx="1840182" cy="95250"/>
            <a:chOff x="0" y="0"/>
            <a:chExt cx="2453576" cy="12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53640" cy="127000"/>
            </a:xfrm>
            <a:custGeom>
              <a:avLst/>
              <a:gdLst/>
              <a:ahLst/>
              <a:cxnLst/>
              <a:rect r="r" b="b" t="t" l="l"/>
              <a:pathLst>
                <a:path h="127000" w="2453640">
                  <a:moveTo>
                    <a:pt x="0" y="0"/>
                  </a:moveTo>
                  <a:lnTo>
                    <a:pt x="2453640" y="0"/>
                  </a:lnTo>
                  <a:lnTo>
                    <a:pt x="245364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093078" y="5249266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0.55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43000" y="6138262"/>
            <a:ext cx="7667625" cy="9525"/>
            <a:chOff x="0" y="0"/>
            <a:chExt cx="102235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68403" y="5706466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Angry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248275" y="5814412"/>
            <a:ext cx="2667000" cy="95250"/>
            <a:chOff x="0" y="0"/>
            <a:chExt cx="3556000" cy="12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48275" y="5814412"/>
            <a:ext cx="1600200" cy="95250"/>
            <a:chOff x="0" y="0"/>
            <a:chExt cx="2133600" cy="12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3600" cy="127000"/>
            </a:xfrm>
            <a:custGeom>
              <a:avLst/>
              <a:gdLst/>
              <a:ahLst/>
              <a:cxnLst/>
              <a:rect r="r" b="b" t="t" l="l"/>
              <a:pathLst>
                <a:path h="1270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093078" y="5811241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0.48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43000" y="6700237"/>
            <a:ext cx="7667625" cy="9525"/>
            <a:chOff x="0" y="0"/>
            <a:chExt cx="102235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68403" y="6268441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Sad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248275" y="6376387"/>
            <a:ext cx="2667000" cy="95250"/>
            <a:chOff x="0" y="0"/>
            <a:chExt cx="3556000" cy="127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248275" y="6376387"/>
            <a:ext cx="1493491" cy="95250"/>
            <a:chOff x="0" y="0"/>
            <a:chExt cx="1991322" cy="127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91360" cy="127000"/>
            </a:xfrm>
            <a:custGeom>
              <a:avLst/>
              <a:gdLst/>
              <a:ahLst/>
              <a:cxnLst/>
              <a:rect r="r" b="b" t="t" l="l"/>
              <a:pathLst>
                <a:path h="127000" w="1991360">
                  <a:moveTo>
                    <a:pt x="0" y="0"/>
                  </a:moveTo>
                  <a:lnTo>
                    <a:pt x="1991360" y="0"/>
                  </a:lnTo>
                  <a:lnTo>
                    <a:pt x="199136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8093078" y="6373216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0.45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143000" y="7262212"/>
            <a:ext cx="7667625" cy="9525"/>
            <a:chOff x="0" y="0"/>
            <a:chExt cx="102235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68403" y="6830416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Disgust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248275" y="6938362"/>
            <a:ext cx="2667000" cy="95250"/>
            <a:chOff x="0" y="0"/>
            <a:chExt cx="3556000" cy="127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248275" y="6938362"/>
            <a:ext cx="1306782" cy="95250"/>
            <a:chOff x="0" y="0"/>
            <a:chExt cx="1742376" cy="12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42440" cy="127000"/>
            </a:xfrm>
            <a:custGeom>
              <a:avLst/>
              <a:gdLst/>
              <a:ahLst/>
              <a:cxnLst/>
              <a:rect r="r" b="b" t="t" l="l"/>
              <a:pathLst>
                <a:path h="127000" w="1742440">
                  <a:moveTo>
                    <a:pt x="0" y="0"/>
                  </a:moveTo>
                  <a:lnTo>
                    <a:pt x="1742440" y="0"/>
                  </a:lnTo>
                  <a:lnTo>
                    <a:pt x="174244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8093078" y="6935191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0.39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43000" y="7824187"/>
            <a:ext cx="7667625" cy="9525"/>
            <a:chOff x="0" y="0"/>
            <a:chExt cx="10223500" cy="12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23500" cy="12700"/>
            </a:xfrm>
            <a:custGeom>
              <a:avLst/>
              <a:gdLst/>
              <a:ahLst/>
              <a:cxnLst/>
              <a:rect r="r" b="b" t="t" l="l"/>
              <a:pathLst>
                <a:path h="12700" w="10223500">
                  <a:moveTo>
                    <a:pt x="0" y="0"/>
                  </a:moveTo>
                  <a:lnTo>
                    <a:pt x="10223500" y="0"/>
                  </a:lnTo>
                  <a:lnTo>
                    <a:pt x="102235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168403" y="7392391"/>
            <a:ext cx="3942178" cy="33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Fear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248275" y="7500337"/>
            <a:ext cx="2667000" cy="95250"/>
            <a:chOff x="0" y="0"/>
            <a:chExt cx="3556000" cy="127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56000" cy="127000"/>
            </a:xfrm>
            <a:custGeom>
              <a:avLst/>
              <a:gdLst/>
              <a:ahLst/>
              <a:cxnLst/>
              <a:rect r="r" b="b" t="t" l="l"/>
              <a:pathLst>
                <a:path h="127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248275" y="7500337"/>
            <a:ext cx="1120083" cy="95250"/>
            <a:chOff x="0" y="0"/>
            <a:chExt cx="1493444" cy="127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93393" cy="127000"/>
            </a:xfrm>
            <a:custGeom>
              <a:avLst/>
              <a:gdLst/>
              <a:ahLst/>
              <a:cxnLst/>
              <a:rect r="r" b="b" t="t" l="l"/>
              <a:pathLst>
                <a:path h="127000" w="1493393">
                  <a:moveTo>
                    <a:pt x="0" y="0"/>
                  </a:moveTo>
                  <a:lnTo>
                    <a:pt x="1493393" y="0"/>
                  </a:lnTo>
                  <a:lnTo>
                    <a:pt x="1493393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B5532E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8093078" y="7497166"/>
            <a:ext cx="692153" cy="225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B5532E"/>
                </a:solidFill>
                <a:latin typeface="Courier New"/>
                <a:ea typeface="Courier New"/>
                <a:cs typeface="Courier New"/>
                <a:sym typeface="Courier New"/>
              </a:rPr>
              <a:t>0.34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02778" y="3415703"/>
            <a:ext cx="7846857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4F6E4F"/>
                </a:solidFill>
                <a:latin typeface="Arial Bold"/>
                <a:ea typeface="Arial Bold"/>
                <a:cs typeface="Arial Bold"/>
                <a:sym typeface="Arial Bold"/>
              </a:rPr>
              <a:t>WHAT IT GETS RIGHT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02778" y="3734791"/>
            <a:ext cx="7846857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Happy &amp; Surprise </a:t>
            </a: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visually distinctive features (a smile, an open mouth + raised brows) survive even at 48 pixels.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502778" y="4765281"/>
            <a:ext cx="7846857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WHAT IT GETS WRONG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02778" y="5084369"/>
            <a:ext cx="7846857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Fear </a:t>
            </a: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overlaps with Surprise (wide eyes, open mouth) and Angry (furrowed brow) — subtle differences are lost at this resolution.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502778" y="5819575"/>
            <a:ext cx="7846857" cy="73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Disgust </a:t>
            </a:r>
            <a:r>
              <a:rPr lang="en-US" sz="1800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has high recall (0.71) but low precision (0.27) — the class weight pulled it forward, sometimes too aggressively.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477375" y="6843712"/>
            <a:ext cx="7667625" cy="2149745"/>
            <a:chOff x="0" y="0"/>
            <a:chExt cx="10223500" cy="286632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23500" cy="2866390"/>
            </a:xfrm>
            <a:custGeom>
              <a:avLst/>
              <a:gdLst/>
              <a:ahLst/>
              <a:cxnLst/>
              <a:rect r="r" b="b" t="t" l="l"/>
              <a:pathLst>
                <a:path h="2866390" w="102235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198100" y="0"/>
                  </a:lnTo>
                  <a:cubicBezTo>
                    <a:pt x="10212070" y="0"/>
                    <a:pt x="10223500" y="11430"/>
                    <a:pt x="10223500" y="25400"/>
                  </a:cubicBezTo>
                  <a:lnTo>
                    <a:pt x="10223500" y="2840990"/>
                  </a:lnTo>
                  <a:cubicBezTo>
                    <a:pt x="10223500" y="2854960"/>
                    <a:pt x="10212070" y="2866390"/>
                    <a:pt x="10198100" y="2866390"/>
                  </a:cubicBezTo>
                  <a:lnTo>
                    <a:pt x="25400" y="2866390"/>
                  </a:lnTo>
                  <a:cubicBezTo>
                    <a:pt x="11430" y="2866390"/>
                    <a:pt x="0" y="2854960"/>
                    <a:pt x="0" y="284099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9845678" y="7154866"/>
            <a:ext cx="714048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ABLATION HEADLINE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845678" y="7473953"/>
            <a:ext cx="7140483" cy="113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950">
                <a:solidFill>
                  <a:srgbClr val="F5F1E8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Removing augmentation drops accuracy from 58.30% → 43.80% — a </a:t>
            </a:r>
            <a:r>
              <a:rPr lang="en-US" sz="1950">
                <a:solidFill>
                  <a:srgbClr val="B5532E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−14.5 pt </a:t>
            </a:r>
            <a:r>
              <a:rPr lang="en-US" sz="1950">
                <a:solidFill>
                  <a:srgbClr val="F5F1E8">
                    <a:alpha val="84706"/>
                  </a:srgbClr>
                </a:solidFill>
                <a:latin typeface="Arial"/>
                <a:ea typeface="Arial"/>
                <a:cs typeface="Arial"/>
                <a:sym typeface="Arial"/>
              </a:rPr>
              <a:t>swing. The single most important component in our best model.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401828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REAL-WORLD CONSIDERATIONS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09 </a:t>
            </a:r>
            <a:r>
              <a:rPr lang="en-US" sz="1650" spc="132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DEPLOYMENT · BIAS ·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431263" cy="7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58% on a benchmark is not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58% in the wild.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599859"/>
            <a:ext cx="5029200" cy="5925141"/>
            <a:chOff x="0" y="0"/>
            <a:chExt cx="6705600" cy="79001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05600" cy="7900162"/>
            </a:xfrm>
            <a:custGeom>
              <a:avLst/>
              <a:gdLst/>
              <a:ahLst/>
              <a:cxnLst/>
              <a:rect r="r" b="b" t="t" l="l"/>
              <a:pathLst>
                <a:path h="790016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900162"/>
                  </a:lnTo>
                  <a:lnTo>
                    <a:pt x="0" y="7900162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11303" y="4025303"/>
            <a:ext cx="4422905" cy="23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16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DEPLOYMENT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1303" y="4392016"/>
            <a:ext cx="4422905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Built to run, not yet to ship.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1303" y="5392141"/>
            <a:ext cx="4422905" cy="130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Real-time inference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is feasible — 456K parameters fits on a phone — but accuracy drops under bad lighting, occlusion, and off-angle faces.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85900" y="6821986"/>
            <a:ext cx="4343400" cy="9525"/>
            <a:chOff x="0" y="0"/>
            <a:chExt cx="5791200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11303" y="6895005"/>
            <a:ext cx="4422905" cy="69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Quantization (int8)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needed for smooth performance on low-end devices.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85900" y="7711526"/>
            <a:ext cx="4343400" cy="9525"/>
            <a:chOff x="0" y="0"/>
            <a:chExt cx="57912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11303" y="7784554"/>
            <a:ext cx="4422905" cy="10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 cameras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output far higher resolution than 48×48 — a crop-and-align preprocessing step is essential.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29400" y="3599859"/>
            <a:ext cx="5029200" cy="5925141"/>
            <a:chOff x="0" y="0"/>
            <a:chExt cx="6705600" cy="7900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05600" cy="7900162"/>
            </a:xfrm>
            <a:custGeom>
              <a:avLst/>
              <a:gdLst/>
              <a:ahLst/>
              <a:cxnLst/>
              <a:rect r="r" b="b" t="t" l="l"/>
              <a:pathLst>
                <a:path h="790016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900162"/>
                  </a:lnTo>
                  <a:lnTo>
                    <a:pt x="0" y="7900162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997703" y="4025303"/>
            <a:ext cx="4422905" cy="23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16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BIAS &amp; ETHICS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97703" y="4392016"/>
            <a:ext cx="4422905" cy="87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Not every face is in the training set.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7703" y="5392141"/>
            <a:ext cx="4422905" cy="10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Demographic bias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FER-2013 is known to perform unequally across ethnicity and gender.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972300" y="6515319"/>
            <a:ext cx="4343400" cy="9525"/>
            <a:chOff x="0" y="0"/>
            <a:chExt cx="57912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997703" y="6588347"/>
            <a:ext cx="4422905" cy="69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Cultural difference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a "neutral" face in one culture may read as "sad" in another.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972300" y="7404868"/>
            <a:ext cx="4343400" cy="9525"/>
            <a:chOff x="0" y="0"/>
            <a:chExt cx="5791200" cy="12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997703" y="7477897"/>
            <a:ext cx="4422905" cy="10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High-stakes use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in hiring, surveillance, or law enforcement should not happen without human oversight.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15800" y="3599859"/>
            <a:ext cx="5029200" cy="5925141"/>
            <a:chOff x="0" y="0"/>
            <a:chExt cx="6705600" cy="79001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05600" cy="7900162"/>
            </a:xfrm>
            <a:custGeom>
              <a:avLst/>
              <a:gdLst/>
              <a:ahLst/>
              <a:cxnLst/>
              <a:rect r="r" b="b" t="t" l="l"/>
              <a:pathLst>
                <a:path h="790016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900162"/>
                  </a:lnTo>
                  <a:lnTo>
                    <a:pt x="0" y="7900162"/>
                  </a:lnTo>
                  <a:close/>
                </a:path>
              </a:pathLst>
            </a:custGeom>
            <a:solidFill>
              <a:srgbClr val="ECE6D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484103" y="4025303"/>
            <a:ext cx="4422905" cy="23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16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DATA LIMITS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84103" y="4392016"/>
            <a:ext cx="4422905" cy="45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48 × 48 hides the signal.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84103" y="4973041"/>
            <a:ext cx="4422905" cy="10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Micro-expressions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the most informative cues — are simply invisible at this resolution.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458700" y="6096219"/>
            <a:ext cx="4343400" cy="9525"/>
            <a:chOff x="0" y="0"/>
            <a:chExt cx="5791200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484103" y="6169247"/>
            <a:ext cx="4422905" cy="10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Class imbalance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Disgust having 10× fewer samples is a data problem, not a model problem.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458700" y="7292426"/>
            <a:ext cx="4343400" cy="9525"/>
            <a:chOff x="0" y="0"/>
            <a:chExt cx="57912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0" cy="12700"/>
            </a:xfrm>
            <a:custGeom>
              <a:avLst/>
              <a:gdLst/>
              <a:ahLst/>
              <a:cxnLst/>
              <a:rect r="r" b="b" t="t" l="l"/>
              <a:pathLst>
                <a:path h="127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6CFB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484103" y="7365454"/>
            <a:ext cx="4422905" cy="69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1725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Crowd-sourced labels </a:t>
            </a:r>
            <a:r>
              <a:rPr lang="en-US" sz="1725">
                <a:solidFill>
                  <a:srgbClr val="3D3A36"/>
                </a:solidFill>
                <a:latin typeface="Arial"/>
                <a:ea typeface="Arial"/>
                <a:cs typeface="Arial"/>
                <a:sym typeface="Arial"/>
              </a:rPr>
              <a:t>— expressions tend to be exaggerated and staged, not natural.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1319212"/>
            <a:ext cx="16002000" cy="9525"/>
            <a:chOff x="0" y="0"/>
            <a:chExt cx="21336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12700"/>
            </a:xfrm>
            <a:custGeom>
              <a:avLst/>
              <a:gdLst/>
              <a:ahLst/>
              <a:cxnLst/>
              <a:rect r="r" b="b" t="t" l="l"/>
              <a:pathLst>
                <a:path h="127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68403" y="863603"/>
            <a:ext cx="3852882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31">
                <a:solidFill>
                  <a:srgbClr val="F5F1E8">
                    <a:alpha val="49804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 &amp; 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2313" y="863603"/>
            <a:ext cx="82349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B5532E">
                    <a:alpha val="49804"/>
                  </a:srgbClr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lang="en-US" sz="1650" spc="132">
                <a:solidFill>
                  <a:srgbClr val="F5F1E8">
                    <a:alpha val="49804"/>
                  </a:srgbClr>
                </a:solidFill>
                <a:latin typeface="Arial"/>
                <a:ea typeface="Arial"/>
                <a:cs typeface="Arial"/>
                <a:sym typeface="Arial"/>
              </a:rPr>
              <a:t>/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403" y="1792291"/>
            <a:ext cx="16431263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297">
                <a:solidFill>
                  <a:srgbClr val="B5532E"/>
                </a:solidFill>
                <a:latin typeface="Arial"/>
                <a:ea typeface="Arial"/>
                <a:cs typeface="Arial"/>
                <a:sym typeface="Arial"/>
              </a:rPr>
              <a:t>WHAT HELPED · AND WHAT COMES NEXT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3" y="2320928"/>
            <a:ext cx="16286336" cy="85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Architecture mattered more than </a:t>
            </a:r>
            <a:r>
              <a:rPr lang="en-US" sz="5400" i="true" spc="-54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any single technique.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3" y="3196628"/>
            <a:ext cx="12703178" cy="150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2700">
                <a:solidFill>
                  <a:srgbClr val="F5F1E8">
                    <a:alpha val="74902"/>
                  </a:srgbClr>
                </a:solidFill>
                <a:latin typeface="Arial"/>
                <a:ea typeface="Arial"/>
                <a:cs typeface="Arial"/>
                <a:sym typeface="Arial"/>
              </a:rPr>
              <a:t>Seven models, one consistent pipeline. The choice of CNN over MLP gave us a 21-point jump no amount of tuning could match. After that, augmentation and Adam carried the rest of the way.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5450386"/>
            <a:ext cx="3743325" cy="9525"/>
            <a:chOff x="0" y="0"/>
            <a:chExt cx="49911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1100" cy="12700"/>
            </a:xfrm>
            <a:custGeom>
              <a:avLst/>
              <a:gdLst/>
              <a:ahLst/>
              <a:cxnLst/>
              <a:rect r="r" b="b" t="t" l="l"/>
              <a:pathLst>
                <a:path h="12700" w="4991100">
                  <a:moveTo>
                    <a:pt x="0" y="0"/>
                  </a:moveTo>
                  <a:lnTo>
                    <a:pt x="4991100" y="0"/>
                  </a:lnTo>
                  <a:lnTo>
                    <a:pt x="49911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8403" y="5694855"/>
            <a:ext cx="3804828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+21.0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8403" y="6342555"/>
            <a:ext cx="3804828" cy="3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Convolutions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3" y="6691112"/>
            <a:ext cx="3804828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F5F1E8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MLP → CNN. Spatial structure is the foundation.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29225" y="5450386"/>
            <a:ext cx="3743325" cy="9525"/>
            <a:chOff x="0" y="0"/>
            <a:chExt cx="49911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91100" cy="12700"/>
            </a:xfrm>
            <a:custGeom>
              <a:avLst/>
              <a:gdLst/>
              <a:ahLst/>
              <a:cxnLst/>
              <a:rect r="r" b="b" t="t" l="l"/>
              <a:pathLst>
                <a:path h="12700" w="4991100">
                  <a:moveTo>
                    <a:pt x="0" y="0"/>
                  </a:moveTo>
                  <a:lnTo>
                    <a:pt x="4991100" y="0"/>
                  </a:lnTo>
                  <a:lnTo>
                    <a:pt x="49911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254628" y="5694855"/>
            <a:ext cx="3804828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+6.9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54628" y="6342555"/>
            <a:ext cx="3804828" cy="3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Adam optimizer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54628" y="6691112"/>
            <a:ext cx="380482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F5F1E8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vs SGD on the same architecture.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15450" y="5450386"/>
            <a:ext cx="3743325" cy="9525"/>
            <a:chOff x="0" y="0"/>
            <a:chExt cx="4991100" cy="1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91100" cy="12700"/>
            </a:xfrm>
            <a:custGeom>
              <a:avLst/>
              <a:gdLst/>
              <a:ahLst/>
              <a:cxnLst/>
              <a:rect r="r" b="b" t="t" l="l"/>
              <a:pathLst>
                <a:path h="12700" w="4991100">
                  <a:moveTo>
                    <a:pt x="0" y="0"/>
                  </a:moveTo>
                  <a:lnTo>
                    <a:pt x="4991100" y="0"/>
                  </a:lnTo>
                  <a:lnTo>
                    <a:pt x="49911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40853" y="5694855"/>
            <a:ext cx="3804828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+3.9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0853" y="6342555"/>
            <a:ext cx="3804828" cy="3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0853" y="6691112"/>
            <a:ext cx="380482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F5F1E8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The most effective regularization we tried.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01675" y="5450386"/>
            <a:ext cx="3743325" cy="9525"/>
            <a:chOff x="0" y="0"/>
            <a:chExt cx="49911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91100" cy="12700"/>
            </a:xfrm>
            <a:custGeom>
              <a:avLst/>
              <a:gdLst/>
              <a:ahLst/>
              <a:cxnLst/>
              <a:rect r="r" b="b" t="t" l="l"/>
              <a:pathLst>
                <a:path h="12700" w="4991100">
                  <a:moveTo>
                    <a:pt x="0" y="0"/>
                  </a:moveTo>
                  <a:lnTo>
                    <a:pt x="4991100" y="0"/>
                  </a:lnTo>
                  <a:lnTo>
                    <a:pt x="49911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5F1E8">
                <a:alpha val="3137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27078" y="5694855"/>
            <a:ext cx="3804828" cy="57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B5532E"/>
                </a:solidFill>
                <a:latin typeface="Georgia"/>
                <a:ea typeface="Georgia"/>
                <a:cs typeface="Georgia"/>
                <a:sym typeface="Georgia"/>
              </a:rPr>
              <a:t>+0.6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27078" y="6342555"/>
            <a:ext cx="3804828" cy="3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F5F1E8"/>
                </a:solidFill>
                <a:latin typeface="Arial"/>
                <a:ea typeface="Arial"/>
                <a:cs typeface="Arial"/>
                <a:sym typeface="Arial"/>
              </a:rPr>
              <a:t>BatchNorm + Dropout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27078" y="6691112"/>
            <a:ext cx="380482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500">
                <a:solidFill>
                  <a:srgbClr val="F5F1E8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Helped generalization, smaller raw lift.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8403" y="7643612"/>
            <a:ext cx="1944986" cy="27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B5532E"/>
                </a:solidFill>
                <a:latin typeface="Arial Bold"/>
                <a:ea typeface="Arial Bold"/>
                <a:cs typeface="Arial Bold"/>
                <a:sym typeface="Arial Bold"/>
              </a:rPr>
              <a:t>FUTURE WORK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12801" y="7586462"/>
            <a:ext cx="9284395" cy="194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Train on a higher-resolution dataset like AffectNet (1M images)</a:t>
            </a:r>
          </a:p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Re-run MobileNetV2 transfer learning with RGB 224×224 input</a:t>
            </a:r>
          </a:p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Try attention mechanisms or Vision Transformers (ViT)</a:t>
            </a:r>
          </a:p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Add face detection as a preprocessing step</a:t>
            </a:r>
          </a:p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Build a real-time webcam demo with quantized weights</a:t>
            </a:r>
          </a:p>
          <a:p>
            <a:pPr algn="l" marL="356235" indent="-178118" lvl="1">
              <a:lnSpc>
                <a:spcPts val="2574"/>
              </a:lnSpc>
              <a:buFont typeface="Arial"/>
              <a:buChar char="•"/>
            </a:pPr>
            <a:r>
              <a:rPr lang="en-US" sz="1650">
                <a:solidFill>
                  <a:srgbClr val="F5F1E8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Evaluate fairness across demographic subgroups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80908" y="3367754"/>
            <a:ext cx="6406061" cy="295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3"/>
              </a:lnSpc>
            </a:pPr>
            <a:r>
              <a:rPr lang="en-US" sz="9512" i="true" spc="-95">
                <a:solidFill>
                  <a:srgbClr val="B5532E"/>
                </a:solidFill>
                <a:latin typeface="Georgia Italics"/>
                <a:ea typeface="Georgia Italics"/>
                <a:cs typeface="Georgia Italics"/>
                <a:sym typeface="Georgia Italics"/>
              </a:rPr>
              <a:t>Thank You! </a:t>
            </a:r>
          </a:p>
          <a:p>
            <a:pPr algn="l">
              <a:lnSpc>
                <a:spcPts val="116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462927" y="5275975"/>
            <a:ext cx="4642024" cy="85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9"/>
              </a:lnSpc>
            </a:pPr>
            <a:r>
              <a:rPr lang="en-US" sz="5400" spc="-54">
                <a:solidFill>
                  <a:srgbClr val="F5F1E8"/>
                </a:solidFill>
                <a:latin typeface="Georgia"/>
                <a:ea typeface="Georgia"/>
                <a:cs typeface="Georgia"/>
                <a:sym typeface="Georgia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DAHJenu7fkU</dc:identifier>
  <dcterms:modified xsi:type="dcterms:W3CDTF">2011-08-01T06:04:30Z</dcterms:modified>
  <cp:revision>1</cp:revision>
  <dc:title>DL_slides.pptx</dc:title>
</cp:coreProperties>
</file>